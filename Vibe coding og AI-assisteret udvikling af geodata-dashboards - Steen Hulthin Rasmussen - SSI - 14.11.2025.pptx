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theme/theme2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4"/>
  </p:sldMasterIdLst>
  <p:notesMasterIdLst>
    <p:notesMasterId r:id="rId27"/>
  </p:notesMasterIdLst>
  <p:sldIdLst>
    <p:sldId id="364" r:id="rId5"/>
    <p:sldId id="362" r:id="rId6"/>
    <p:sldId id="369" r:id="rId7"/>
    <p:sldId id="373" r:id="rId8"/>
    <p:sldId id="374" r:id="rId9"/>
    <p:sldId id="375" r:id="rId10"/>
    <p:sldId id="365" r:id="rId11"/>
    <p:sldId id="376" r:id="rId12"/>
    <p:sldId id="377" r:id="rId13"/>
    <p:sldId id="379" r:id="rId14"/>
    <p:sldId id="378" r:id="rId15"/>
    <p:sldId id="380" r:id="rId16"/>
    <p:sldId id="381" r:id="rId17"/>
    <p:sldId id="382" r:id="rId18"/>
    <p:sldId id="383" r:id="rId19"/>
    <p:sldId id="384" r:id="rId20"/>
    <p:sldId id="385" r:id="rId21"/>
    <p:sldId id="386" r:id="rId22"/>
    <p:sldId id="387" r:id="rId23"/>
    <p:sldId id="388" r:id="rId24"/>
    <p:sldId id="389" r:id="rId25"/>
    <p:sldId id="367" r:id="rId26"/>
  </p:sldIdLst>
  <p:sldSz cx="12192000" cy="6858000"/>
  <p:notesSz cx="6805613" cy="9944100"/>
  <p:defaultTextStyle>
    <a:defPPr>
      <a:defRPr lang="da-DK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ræsentation" id="{01027AF5-2A42-4A54-A5D0-3CE2FDA27243}">
          <p14:sldIdLst>
            <p14:sldId id="364"/>
            <p14:sldId id="362"/>
            <p14:sldId id="369"/>
            <p14:sldId id="373"/>
            <p14:sldId id="374"/>
            <p14:sldId id="375"/>
            <p14:sldId id="365"/>
            <p14:sldId id="376"/>
            <p14:sldId id="377"/>
            <p14:sldId id="379"/>
            <p14:sldId id="378"/>
            <p14:sldId id="380"/>
            <p14:sldId id="381"/>
            <p14:sldId id="382"/>
            <p14:sldId id="383"/>
            <p14:sldId id="384"/>
            <p14:sldId id="385"/>
            <p14:sldId id="386"/>
            <p14:sldId id="387"/>
            <p14:sldId id="388"/>
            <p14:sldId id="389"/>
            <p14:sldId id="367"/>
          </p14:sldIdLst>
        </p14:section>
        <p14:section name="Inspiration &amp; vejledning" id="{0A638584-7DFA-445B-814D-C8A7CEA08089}">
          <p14:sldIdLst/>
        </p14:section>
        <p14:section name="Eksempler på forsideslides" id="{C8A40E49-04FA-47F4-96D9-1DCB77C5AF85}">
          <p14:sldIdLst/>
        </p14:section>
        <p14:section name="Eksempler på indholdsslides" id="{552C3CB6-FBEA-4DD1-84BF-F65A7BFF9520}">
          <p14:sldIdLst/>
        </p14:section>
        <p14:section name="Eksempel på afslutningsslide" id="{BF9426C9-475D-4087-80A2-222F516EC59D}">
          <p14:sldIdLst/>
        </p14:section>
        <p14:section name="Grafiske elementer" id="{2DDAA27B-F89D-4596-8A67-849839F49941}">
          <p14:sldIdLst/>
        </p14:section>
      </p14:sectionLst>
    </p:ext>
    <p:ext uri="{EFAFB233-063F-42B5-8137-9DF3F51BA10A}">
      <p15:sldGuideLst xmlns:p15="http://schemas.microsoft.com/office/powerpoint/2012/main">
        <p15:guide id="2" pos="4906" userDrawn="1">
          <p15:clr>
            <a:srgbClr val="A4A3A4"/>
          </p15:clr>
        </p15:guide>
        <p15:guide id="3" pos="5654" userDrawn="1">
          <p15:clr>
            <a:srgbClr val="A4A3A4"/>
          </p15:clr>
        </p15:guide>
        <p15:guide id="8" pos="3001" userDrawn="1">
          <p15:clr>
            <a:srgbClr val="A4A3A4"/>
          </p15:clr>
        </p15:guide>
        <p15:guide id="11" pos="1141" userDrawn="1">
          <p15:clr>
            <a:srgbClr val="A4A3A4"/>
          </p15:clr>
        </p15:guide>
        <p15:guide id="12" orient="horz" pos="3430" userDrawn="1">
          <p15:clr>
            <a:srgbClr val="A4A3A4"/>
          </p15:clr>
        </p15:guide>
        <p15:guide id="13" pos="2048" userDrawn="1">
          <p15:clr>
            <a:srgbClr val="A4A3A4"/>
          </p15:clr>
        </p15:guide>
        <p15:guide id="17" orient="horz" pos="3067" userDrawn="1">
          <p15:clr>
            <a:srgbClr val="A4A3A4"/>
          </p15:clr>
        </p15:guide>
        <p15:guide id="18" orient="horz" pos="935" userDrawn="1">
          <p15:clr>
            <a:srgbClr val="A4A3A4"/>
          </p15:clr>
        </p15:guide>
        <p15:guide id="19" orient="horz" pos="3498" userDrawn="1">
          <p15:clr>
            <a:srgbClr val="A4A3A4"/>
          </p15:clr>
        </p15:guide>
        <p15:guide id="20" orient="horz" pos="3974" userDrawn="1">
          <p15:clr>
            <a:srgbClr val="A4A3A4"/>
          </p15:clr>
        </p15:guide>
        <p15:guide id="21" pos="2570" userDrawn="1">
          <p15:clr>
            <a:srgbClr val="A4A3A4"/>
          </p15:clr>
        </p15:guide>
        <p15:guide id="22" pos="3386" userDrawn="1">
          <p15:clr>
            <a:srgbClr val="A4A3A4"/>
          </p15:clr>
        </p15:guide>
        <p15:guide id="23" pos="4294" userDrawn="1">
          <p15:clr>
            <a:srgbClr val="A4A3A4"/>
          </p15:clr>
        </p15:guide>
        <p15:guide id="24" pos="5337" userDrawn="1">
          <p15:clr>
            <a:srgbClr val="A4A3A4"/>
          </p15:clr>
        </p15:guide>
        <p15:guide id="25" orient="horz" pos="1865" userDrawn="1">
          <p15:clr>
            <a:srgbClr val="A4A3A4"/>
          </p15:clr>
        </p15:guide>
        <p15:guide id="26" orient="horz" pos="1389" userDrawn="1">
          <p15:clr>
            <a:srgbClr val="A4A3A4"/>
          </p15:clr>
        </p15:guide>
        <p15:guide id="27" pos="3840" userDrawn="1">
          <p15:clr>
            <a:srgbClr val="A4A3A4"/>
          </p15:clr>
        </p15:guide>
        <p15:guide id="28" orient="horz" pos="754" userDrawn="1">
          <p15:clr>
            <a:srgbClr val="A4A3A4"/>
          </p15:clr>
        </p15:guide>
        <p15:guide id="29" pos="1572" userDrawn="1">
          <p15:clr>
            <a:srgbClr val="A4A3A4"/>
          </p15:clr>
        </p15:guide>
        <p15:guide id="30" pos="688" userDrawn="1">
          <p15:clr>
            <a:srgbClr val="A4A3A4"/>
          </p15:clr>
        </p15:guide>
        <p15:guide id="31" pos="461" userDrawn="1">
          <p15:clr>
            <a:srgbClr val="A4A3A4"/>
          </p15:clr>
        </p15:guide>
        <p15:guide id="32" pos="6108" userDrawn="1">
          <p15:clr>
            <a:srgbClr val="A4A3A4"/>
          </p15:clr>
        </p15:guide>
        <p15:guide id="33" pos="6494" userDrawn="1">
          <p15:clr>
            <a:srgbClr val="A4A3A4"/>
          </p15:clr>
        </p15:guide>
        <p15:guide id="34" pos="6992" userDrawn="1">
          <p15:clr>
            <a:srgbClr val="A4A3A4"/>
          </p15:clr>
        </p15:guide>
        <p15:guide id="35" pos="7446" userDrawn="1">
          <p15:clr>
            <a:srgbClr val="A4A3A4"/>
          </p15:clr>
        </p15:guide>
        <p15:guide id="36" orient="horz" pos="527" userDrawn="1">
          <p15:clr>
            <a:srgbClr val="A4A3A4"/>
          </p15:clr>
        </p15:guide>
        <p15:guide id="37" orient="horz" pos="2251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93F0D"/>
    <a:srgbClr val="788313"/>
    <a:srgbClr val="120B3D"/>
    <a:srgbClr val="586D8A"/>
    <a:srgbClr val="DCDADA"/>
    <a:srgbClr val="FFCC29"/>
    <a:srgbClr val="ED7D31"/>
    <a:srgbClr val="B51412"/>
    <a:srgbClr val="D4D2D2"/>
    <a:srgbClr val="E7E6E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B422515-30C6-1C39-6B15-D4F49845B4F3}" v="197" dt="2025-11-04T16:38:35.062"/>
    <p1510:client id="{AD48AFF0-5645-E71B-6DED-B80815E30825}" v="201" dt="2025-11-04T17:10:59.361"/>
    <p1510:client id="{FF293799-029F-0010-1764-D1B919E6F533}" v="353" dt="2025-11-04T16:14:49.22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llemlayout 2 - Markering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>
        <p:scale>
          <a:sx n="1" d="2"/>
          <a:sy n="1" d="2"/>
        </p:scale>
        <p:origin x="0" y="0"/>
      </p:cViewPr>
      <p:guideLst>
        <p:guide pos="4906"/>
        <p:guide pos="5654"/>
        <p:guide pos="3001"/>
        <p:guide pos="1141"/>
        <p:guide orient="horz" pos="3430"/>
        <p:guide pos="2048"/>
        <p:guide orient="horz" pos="3067"/>
        <p:guide orient="horz" pos="935"/>
        <p:guide orient="horz" pos="3498"/>
        <p:guide orient="horz" pos="3974"/>
        <p:guide pos="2570"/>
        <p:guide pos="3386"/>
        <p:guide pos="4294"/>
        <p:guide pos="5337"/>
        <p:guide orient="horz" pos="1865"/>
        <p:guide orient="horz" pos="1389"/>
        <p:guide pos="3840"/>
        <p:guide orient="horz" pos="754"/>
        <p:guide pos="1572"/>
        <p:guide pos="688"/>
        <p:guide pos="461"/>
        <p:guide pos="6108"/>
        <p:guide pos="6494"/>
        <p:guide pos="6992"/>
        <p:guide pos="7446"/>
        <p:guide orient="horz" pos="527"/>
        <p:guide orient="horz" pos="2251"/>
      </p:guideLst>
    </p:cSldViewPr>
  </p:slide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" Type="http://schemas.openxmlformats.org/officeDocument/2006/relationships/customXml" Target="../customXml/item3.xml"/><Relationship Id="rId21" Type="http://schemas.openxmlformats.org/officeDocument/2006/relationships/slide" Target="slides/slide17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presProps" Target="presProp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notesMaster" Target="notesMasters/notesMaster1.xml"/><Relationship Id="rId30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sidehoved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9099" cy="498932"/>
          </a:xfrm>
          <a:prstGeom prst="rect">
            <a:avLst/>
          </a:prstGeom>
        </p:spPr>
        <p:txBody>
          <a:bodyPr vert="horz" lIns="95709" tIns="47854" rIns="95709" bIns="47854" rtlCol="0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3" name="Pladsholder til dato 2"/>
          <p:cNvSpPr>
            <a:spLocks noGrp="1"/>
          </p:cNvSpPr>
          <p:nvPr>
            <p:ph type="dt" idx="1"/>
          </p:nvPr>
        </p:nvSpPr>
        <p:spPr>
          <a:xfrm>
            <a:off x="3854940" y="0"/>
            <a:ext cx="2949099" cy="498932"/>
          </a:xfrm>
          <a:prstGeom prst="rect">
            <a:avLst/>
          </a:prstGeom>
        </p:spPr>
        <p:txBody>
          <a:bodyPr vert="horz" lIns="95709" tIns="47854" rIns="95709" bIns="47854" rtlCol="0"/>
          <a:lstStyle>
            <a:lvl1pPr algn="r">
              <a:defRPr sz="1300"/>
            </a:lvl1pPr>
          </a:lstStyle>
          <a:p>
            <a:fld id="{8626F44B-62AD-4BD9-9C5A-F0A4BDDA55B5}" type="datetimeFigureOut">
              <a:rPr lang="da-DK" smtClean="0"/>
              <a:t>04-11-2025</a:t>
            </a:fld>
            <a:endParaRPr lang="da-DK"/>
          </a:p>
        </p:txBody>
      </p:sp>
      <p:sp>
        <p:nvSpPr>
          <p:cNvPr id="4" name="Pladsholder til slidebillede 3"/>
          <p:cNvSpPr>
            <a:spLocks noGrp="1" noRot="1" noChangeAspect="1"/>
          </p:cNvSpPr>
          <p:nvPr>
            <p:ph type="sldImg" idx="2"/>
          </p:nvPr>
        </p:nvSpPr>
        <p:spPr>
          <a:xfrm>
            <a:off x="420688" y="1243013"/>
            <a:ext cx="5964237" cy="33559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5709" tIns="47854" rIns="95709" bIns="47854" rtlCol="0" anchor="ctr"/>
          <a:lstStyle/>
          <a:p>
            <a:endParaRPr lang="da-DK"/>
          </a:p>
        </p:txBody>
      </p:sp>
      <p:sp>
        <p:nvSpPr>
          <p:cNvPr id="5" name="Pladsholder til noter 4"/>
          <p:cNvSpPr>
            <a:spLocks noGrp="1"/>
          </p:cNvSpPr>
          <p:nvPr>
            <p:ph type="body" sz="quarter" idx="3"/>
          </p:nvPr>
        </p:nvSpPr>
        <p:spPr>
          <a:xfrm>
            <a:off x="680562" y="4785599"/>
            <a:ext cx="5444490" cy="3915489"/>
          </a:xfrm>
          <a:prstGeom prst="rect">
            <a:avLst/>
          </a:prstGeom>
        </p:spPr>
        <p:txBody>
          <a:bodyPr vert="horz" lIns="95709" tIns="47854" rIns="95709" bIns="47854" rtlCol="0"/>
          <a:lstStyle/>
          <a:p>
            <a:pPr lvl="0"/>
            <a:r>
              <a:rPr lang="da-DK"/>
              <a:t>Rediger typografien i masterens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6" name="Pladsholder til sidefod 5"/>
          <p:cNvSpPr>
            <a:spLocks noGrp="1"/>
          </p:cNvSpPr>
          <p:nvPr>
            <p:ph type="ftr" sz="quarter" idx="4"/>
          </p:nvPr>
        </p:nvSpPr>
        <p:spPr>
          <a:xfrm>
            <a:off x="0" y="9445170"/>
            <a:ext cx="2949099" cy="498930"/>
          </a:xfrm>
          <a:prstGeom prst="rect">
            <a:avLst/>
          </a:prstGeom>
        </p:spPr>
        <p:txBody>
          <a:bodyPr vert="horz" lIns="95709" tIns="47854" rIns="95709" bIns="47854" rtlCol="0" anchor="b"/>
          <a:lstStyle>
            <a:lvl1pPr algn="l">
              <a:defRPr sz="1300"/>
            </a:lvl1pPr>
          </a:lstStyle>
          <a:p>
            <a:endParaRPr lang="da-DK"/>
          </a:p>
        </p:txBody>
      </p:sp>
      <p:sp>
        <p:nvSpPr>
          <p:cNvPr id="7" name="Pladsholder til slidenummer 6"/>
          <p:cNvSpPr>
            <a:spLocks noGrp="1"/>
          </p:cNvSpPr>
          <p:nvPr>
            <p:ph type="sldNum" sz="quarter" idx="5"/>
          </p:nvPr>
        </p:nvSpPr>
        <p:spPr>
          <a:xfrm>
            <a:off x="3854940" y="9445170"/>
            <a:ext cx="2949099" cy="498930"/>
          </a:xfrm>
          <a:prstGeom prst="rect">
            <a:avLst/>
          </a:prstGeom>
        </p:spPr>
        <p:txBody>
          <a:bodyPr vert="horz" lIns="95709" tIns="47854" rIns="95709" bIns="47854" rtlCol="0" anchor="b"/>
          <a:lstStyle>
            <a:lvl1pPr algn="r">
              <a:defRPr sz="1300"/>
            </a:lvl1pPr>
          </a:lstStyle>
          <a:p>
            <a:fld id="{D23D4202-0DCF-4805-B145-3EFFB62894CA}" type="slidenum">
              <a:rPr lang="da-DK" smtClean="0"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41676400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billede, overskrift,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78997079-19E8-0102-64CE-9781C5D592C9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5063952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accent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Undertitel 2" descr="Undertitel">
            <a:extLst>
              <a:ext uri="{FF2B5EF4-FFF2-40B4-BE49-F238E27FC236}">
                <a16:creationId xmlns:a16="http://schemas.microsoft.com/office/drawing/2014/main" id="{D72CFAF7-5A75-85CA-EC70-A6CDC25A0AC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743068"/>
            <a:ext cx="10740524" cy="396000"/>
          </a:xfrm>
        </p:spPr>
        <p:txBody>
          <a:bodyPr/>
          <a:lstStyle>
            <a:lvl1pPr marL="0" indent="0" algn="l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sp>
        <p:nvSpPr>
          <p:cNvPr id="10" name="Pladsholder til billede 8" descr="Billede">
            <a:extLst>
              <a:ext uri="{FF2B5EF4-FFF2-40B4-BE49-F238E27FC236}">
                <a16:creationId xmlns:a16="http://schemas.microsoft.com/office/drawing/2014/main" id="{65282F5F-A9C1-A6A3-74F0-8B552B1F7D3D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26800"/>
            <a:ext cx="12192000" cy="38528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9" name="Billede 8">
            <a:extLst>
              <a:ext uri="{FF2B5EF4-FFF2-40B4-BE49-F238E27FC236}">
                <a16:creationId xmlns:a16="http://schemas.microsoft.com/office/drawing/2014/main" id="{C474130E-C4C1-D82B-C9F7-637A4DBB8F5E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50000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1986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billede, oversk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dsholder til billede 8" descr="Billede">
            <a:extLst>
              <a:ext uri="{FF2B5EF4-FFF2-40B4-BE49-F238E27FC236}">
                <a16:creationId xmlns:a16="http://schemas.microsoft.com/office/drawing/2014/main" id="{3581105E-F817-C145-97BB-C7D4F54712DB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126800"/>
            <a:ext cx="12192000" cy="5731200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sp>
        <p:nvSpPr>
          <p:cNvPr id="5" name="Pladsholder til tekst 4">
            <a:extLst>
              <a:ext uri="{FF2B5EF4-FFF2-40B4-BE49-F238E27FC236}">
                <a16:creationId xmlns:a16="http://schemas.microsoft.com/office/drawing/2014/main" id="{FC0C01D6-6CA6-4F12-FF60-2B95D12038BD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0" y="4826920"/>
            <a:ext cx="9684000" cy="1080000"/>
          </a:xfrm>
          <a:solidFill>
            <a:schemeClr val="accent1"/>
          </a:solidFill>
        </p:spPr>
        <p:txBody>
          <a:bodyPr/>
          <a:lstStyle>
            <a:lvl1pPr marL="0" indent="0">
              <a:buNone/>
              <a:defRPr sz="10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GB"/>
              <a:t> </a:t>
            </a:r>
          </a:p>
        </p:txBody>
      </p:sp>
      <p:sp>
        <p:nvSpPr>
          <p:cNvPr id="8" name="Titel 1" descr="Titel">
            <a:extLst>
              <a:ext uri="{FF2B5EF4-FFF2-40B4-BE49-F238E27FC236}">
                <a16:creationId xmlns:a16="http://schemas.microsoft.com/office/drawing/2014/main" id="{E762EBF9-E279-12E7-1B5C-7E9E99A23E25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5044902"/>
            <a:ext cx="824848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Titel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365B4CD8-AE7A-E991-B525-BA6D844AD28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28690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overskrift, tekst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Titel 1" descr="Titel">
            <a:extLst>
              <a:ext uri="{FF2B5EF4-FFF2-40B4-BE49-F238E27FC236}">
                <a16:creationId xmlns:a16="http://schemas.microsoft.com/office/drawing/2014/main" id="{695B6DD0-9934-65E2-80CE-55E733B6E550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350083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2" name="Undertitel 2" descr="Undertitel">
            <a:extLst>
              <a:ext uri="{FF2B5EF4-FFF2-40B4-BE49-F238E27FC236}">
                <a16:creationId xmlns:a16="http://schemas.microsoft.com/office/drawing/2014/main" id="{65BBCEE8-D9DC-A62B-FED6-D47FBFAC30C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029199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2EC3BF41-0C90-F8E9-28F9-001BA89CECB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015" y="287972"/>
            <a:ext cx="1468801" cy="55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21533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stort logo,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 descr="Titel">
            <a:extLst>
              <a:ext uri="{FF2B5EF4-FFF2-40B4-BE49-F238E27FC236}">
                <a16:creationId xmlns:a16="http://schemas.microsoft.com/office/drawing/2014/main" id="{310C55B5-B0AD-850B-03C8-834E420AAA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975721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Undertitel 2" descr="Undertitel">
            <a:extLst>
              <a:ext uri="{FF2B5EF4-FFF2-40B4-BE49-F238E27FC236}">
                <a16:creationId xmlns:a16="http://schemas.microsoft.com/office/drawing/2014/main" id="{DED688CA-DC5C-899F-A132-F6E585AE3B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654837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7F8C14F-19C6-F335-DFB5-244033F90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1160463"/>
            <a:ext cx="7443681" cy="275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3772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rside, stort logo, grå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el 1" descr="Titel">
            <a:extLst>
              <a:ext uri="{FF2B5EF4-FFF2-40B4-BE49-F238E27FC236}">
                <a16:creationId xmlns:a16="http://schemas.microsoft.com/office/drawing/2014/main" id="{310C55B5-B0AD-850B-03C8-834E420AAAEF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79999" y="4975721"/>
            <a:ext cx="10740525" cy="684000"/>
          </a:xfrm>
        </p:spPr>
        <p:txBody>
          <a:bodyPr anchor="t" anchorCtr="0">
            <a:normAutofit/>
          </a:bodyPr>
          <a:lstStyle>
            <a:lvl1pPr algn="l">
              <a:defRPr sz="4400"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Undertitel 2" descr="Undertitel">
            <a:extLst>
              <a:ext uri="{FF2B5EF4-FFF2-40B4-BE49-F238E27FC236}">
                <a16:creationId xmlns:a16="http://schemas.microsoft.com/office/drawing/2014/main" id="{DED688CA-DC5C-899F-A132-F6E585AE3B81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79999" y="5654837"/>
            <a:ext cx="10740524" cy="396000"/>
          </a:xfrm>
        </p:spPr>
        <p:txBody>
          <a:bodyPr/>
          <a:lstStyle>
            <a:lvl1pPr marL="0" indent="0" algn="l">
              <a:buNone/>
              <a:defRPr sz="2400">
                <a:solidFill>
                  <a:schemeClr val="bg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a-DK"/>
              <a:t>Undertitel</a:t>
            </a:r>
            <a:endParaRPr lang="en-GB"/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27F8C14F-19C6-F335-DFB5-244033F906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2200" y="1160463"/>
            <a:ext cx="7443681" cy="275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656143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F47CEFC1-22DA-ADC7-1A8E-44F082D606A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146010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BFDFAC3-1223-F981-6E8A-7EE074A59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Undertitel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438AC044-7C72-820B-836A-2B24068D4FD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009491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dhold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7BFDFAC3-1223-F981-6E8A-7EE074A5967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Undertitel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/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pic>
        <p:nvPicPr>
          <p:cNvPr id="4" name="Billede 3">
            <a:extLst>
              <a:ext uri="{FF2B5EF4-FFF2-40B4-BE49-F238E27FC236}">
                <a16:creationId xmlns:a16="http://schemas.microsoft.com/office/drawing/2014/main" id="{86F8413A-A27F-E82A-1B69-C116CC3909E8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67352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40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Tx/>
              <a:buFont typeface="Arial" panose="020B0604020202020204" pitchFamily="34" charset="0"/>
              <a:buNone/>
              <a:tabLst/>
              <a:defRPr/>
            </a:pPr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  <a:p>
            <a:endParaRPr lang="da-DK" noProof="0"/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B570424C-70C0-BB37-0B68-929EE02FA7D4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6806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6EFF5CB-1516-5500-CF7E-C767934601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324877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dhold, billede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719999" y="1921877"/>
            <a:ext cx="6988233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6EFF5CB-1516-5500-CF7E-C767934601E1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033141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40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21F9D6DA-AAD0-21F5-FBCA-57B49981CBD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5345083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rø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9966A900-6AEB-34A4-224C-1A7626924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6" name="Billede 5">
            <a:extLst>
              <a:ext uri="{FF2B5EF4-FFF2-40B4-BE49-F238E27FC236}">
                <a16:creationId xmlns:a16="http://schemas.microsoft.com/office/drawing/2014/main" id="{9465933D-3A92-B94B-A4F9-B34DA59D736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4078961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, indhold, grå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9966A900-6AEB-34A4-224C-1A7626924FC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chemeClr val="accent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3" name="Pladsholder til indhold 2" descr="Indhold">
            <a:extLst>
              <a:ext uri="{FF2B5EF4-FFF2-40B4-BE49-F238E27FC236}">
                <a16:creationId xmlns:a16="http://schemas.microsoft.com/office/drawing/2014/main" id="{CA86B4E6-8104-18B0-D39B-58528B3FFE9A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791870" y="1921877"/>
            <a:ext cx="7031175" cy="4392000"/>
          </a:xfrm>
        </p:spPr>
        <p:txBody>
          <a:bodyPr/>
          <a:lstStyle>
            <a:lvl1pPr>
              <a:buClr>
                <a:schemeClr val="bg1"/>
              </a:buClr>
              <a:defRPr>
                <a:solidFill>
                  <a:schemeClr val="bg1"/>
                </a:solidFill>
              </a:defRPr>
            </a:lvl1pPr>
            <a:lvl2pPr>
              <a:buClr>
                <a:schemeClr val="bg1"/>
              </a:buClr>
              <a:defRPr>
                <a:solidFill>
                  <a:schemeClr val="bg1"/>
                </a:solidFill>
              </a:defRPr>
            </a:lvl2pPr>
            <a:lvl3pPr>
              <a:buClr>
                <a:schemeClr val="bg1"/>
              </a:buClr>
              <a:defRPr>
                <a:solidFill>
                  <a:schemeClr val="bg1"/>
                </a:solidFill>
              </a:defRPr>
            </a:lvl3pPr>
            <a:lvl4pPr>
              <a:buClr>
                <a:schemeClr val="bg1"/>
              </a:buClr>
              <a:defRPr>
                <a:solidFill>
                  <a:schemeClr val="bg1"/>
                </a:solidFill>
              </a:defRPr>
            </a:lvl4pPr>
            <a:lvl5pPr>
              <a:buClr>
                <a:schemeClr val="bg1"/>
              </a:buClr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a-DK"/>
              <a:t>Tekst (fjern bullet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1490400"/>
            <a:ext cx="4096800" cy="5364000"/>
          </a:xfrm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A47D9B49-DF24-56BF-DBA3-85C3D59252B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800" y="288000"/>
            <a:ext cx="1467960" cy="5325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1856577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ort billede,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10" name="Pladsholder til indhold 2" descr="Indhold">
            <a:extLst>
              <a:ext uri="{FF2B5EF4-FFF2-40B4-BE49-F238E27FC236}">
                <a16:creationId xmlns:a16="http://schemas.microsoft.com/office/drawing/2014/main" id="{97246CA3-2029-0DA4-2145-31E22119712E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8486274" y="1921877"/>
            <a:ext cx="3336771" cy="4392000"/>
          </a:xfrm>
        </p:spPr>
        <p:txBody>
          <a:bodyPr/>
          <a:lstStyle>
            <a:lvl1pPr>
              <a:defRPr/>
            </a:lvl1pPr>
          </a:lstStyle>
          <a:p>
            <a:pPr lvl="0"/>
            <a:r>
              <a:rPr lang="da-DK"/>
              <a:t>Tekst (fjern bullet, hvis almindelig brødtekst ønskes)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1" y="1494000"/>
            <a:ext cx="8118000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8" name="Billede 7">
            <a:extLst>
              <a:ext uri="{FF2B5EF4-FFF2-40B4-BE49-F238E27FC236}">
                <a16:creationId xmlns:a16="http://schemas.microsoft.com/office/drawing/2014/main" id="{3CB3152A-5AB9-8BB6-3EE0-AA545615234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8723007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1494000"/>
            <a:ext cx="12192001" cy="5364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2C489BEC-FB90-5245-5607-E716A5767A6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00751208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le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7C810A4-B363-F2E9-3332-C97813468B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0" y="-718218"/>
            <a:ext cx="9290274" cy="504000"/>
          </a:xfrm>
        </p:spPr>
        <p:txBody>
          <a:bodyPr/>
          <a:lstStyle>
            <a:lvl1pPr>
              <a:defRPr/>
            </a:lvl1pPr>
          </a:lstStyle>
          <a:p>
            <a:r>
              <a:rPr lang="da-DK"/>
              <a:t>Skjult titel – skal udfyldes </a:t>
            </a:r>
            <a:r>
              <a:rPr lang="da-DK" err="1"/>
              <a:t>mhb</a:t>
            </a:r>
            <a:r>
              <a:rPr lang="da-DK"/>
              <a:t>. tilgængelighed</a:t>
            </a:r>
          </a:p>
        </p:txBody>
      </p:sp>
      <p:sp>
        <p:nvSpPr>
          <p:cNvPr id="9" name="Pladsholder til billede 8" descr="Billede">
            <a:extLst>
              <a:ext uri="{FF2B5EF4-FFF2-40B4-BE49-F238E27FC236}">
                <a16:creationId xmlns:a16="http://schemas.microsoft.com/office/drawing/2014/main" id="{F1BD2816-02B1-E399-C7CF-B0ABF241AB5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-2" y="0"/>
            <a:ext cx="12192001" cy="68580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0" name="Billede 9">
            <a:extLst>
              <a:ext uri="{FF2B5EF4-FFF2-40B4-BE49-F238E27FC236}">
                <a16:creationId xmlns:a16="http://schemas.microsoft.com/office/drawing/2014/main" id="{085447F4-A771-68F8-31AF-17C9E09E460D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0412175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hv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a-DK"/>
              <a:t>Titel</a:t>
            </a:r>
            <a:endParaRPr lang="en-GB"/>
          </a:p>
        </p:txBody>
      </p:sp>
      <p:pic>
        <p:nvPicPr>
          <p:cNvPr id="5" name="Billede 4">
            <a:extLst>
              <a:ext uri="{FF2B5EF4-FFF2-40B4-BE49-F238E27FC236}">
                <a16:creationId xmlns:a16="http://schemas.microsoft.com/office/drawing/2014/main" id="{EE74B7F7-010B-8F00-1F2D-CBFCABD8C913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2866295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verskrift, rø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 descr="Titel">
            <a:extLst>
              <a:ext uri="{FF2B5EF4-FFF2-40B4-BE49-F238E27FC236}">
                <a16:creationId xmlns:a16="http://schemas.microsoft.com/office/drawing/2014/main" id="{563B65B4-1B46-1D8A-AD92-570ACA092F8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a-DK"/>
              <a:t>Titel</a:t>
            </a:r>
            <a:endParaRPr lang="en-GB"/>
          </a:p>
        </p:txBody>
      </p:sp>
      <p:pic>
        <p:nvPicPr>
          <p:cNvPr id="3" name="Billede 2">
            <a:extLst>
              <a:ext uri="{FF2B5EF4-FFF2-40B4-BE49-F238E27FC236}">
                <a16:creationId xmlns:a16="http://schemas.microsoft.com/office/drawing/2014/main" id="{B37B97B1-8765-D76D-6124-F1A481A8075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360015" y="287972"/>
            <a:ext cx="1468801" cy="55196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578391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arvel og ta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ktangel 6">
            <a:extLst>
              <a:ext uri="{FF2B5EF4-FFF2-40B4-BE49-F238E27FC236}">
                <a16:creationId xmlns:a16="http://schemas.microsoft.com/office/drawing/2014/main" id="{D2EA1141-81D4-C084-7FB3-5B6D4774EF7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1490346"/>
            <a:ext cx="12192000" cy="5364000"/>
          </a:xfrm>
          <a:prstGeom prst="rect">
            <a:avLst/>
          </a:prstGeom>
          <a:solidFill>
            <a:srgbClr val="B5141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a-DK">
              <a:solidFill>
                <a:srgbClr val="B51412"/>
              </a:solidFill>
            </a:endParaRPr>
          </a:p>
        </p:txBody>
      </p:sp>
      <p:sp>
        <p:nvSpPr>
          <p:cNvPr id="3" name="Titel 2">
            <a:extLst>
              <a:ext uri="{FF2B5EF4-FFF2-40B4-BE49-F238E27FC236}">
                <a16:creationId xmlns:a16="http://schemas.microsoft.com/office/drawing/2014/main" id="{1501D1D0-2764-D166-8AE0-235366ABB53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24000" y="3254395"/>
            <a:ext cx="4212000" cy="1476000"/>
          </a:xfrm>
        </p:spPr>
        <p:txBody>
          <a:bodyPr anchor="ctr" anchorCtr="0">
            <a:noAutofit/>
          </a:bodyPr>
          <a:lstStyle>
            <a:lvl1pPr>
              <a:defRPr lang="da-DK" sz="4400" b="1" kern="1200" cap="none" baseline="0" dirty="0" smtClean="0">
                <a:solidFill>
                  <a:schemeClr val="bg1"/>
                </a:solidFill>
                <a:latin typeface="+mn-lt"/>
                <a:ea typeface="+mj-ea"/>
                <a:cs typeface="+mj-cs"/>
              </a:defRPr>
            </a:lvl1pPr>
          </a:lstStyle>
          <a:p>
            <a:pPr marL="0" lvl="0" indent="0" algn="l" defTabSz="914400" rtl="0" eaLnBrk="1" latinLnBrk="0" hangingPunct="1">
              <a:lnSpc>
                <a:spcPct val="100000"/>
              </a:lnSpc>
              <a:spcBef>
                <a:spcPct val="0"/>
              </a:spcBef>
              <a:buClr>
                <a:schemeClr val="accent1"/>
              </a:buClr>
              <a:buFontTx/>
              <a:buNone/>
            </a:pPr>
            <a:r>
              <a:rPr lang="da-DK"/>
              <a:t>Tekst</a:t>
            </a:r>
          </a:p>
        </p:txBody>
      </p:sp>
      <p:sp>
        <p:nvSpPr>
          <p:cNvPr id="9" name="Pladsholder til billede 8">
            <a:extLst>
              <a:ext uri="{FF2B5EF4-FFF2-40B4-BE49-F238E27FC236}">
                <a16:creationId xmlns:a16="http://schemas.microsoft.com/office/drawing/2014/main" id="{F1BD2816-02B1-E399-C7CF-B0ABF241AB5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8095200" y="1490400"/>
            <a:ext cx="4096800" cy="5364000"/>
          </a:xfrm>
          <a:noFill/>
        </p:spPr>
        <p:txBody>
          <a:bodyPr>
            <a:normAutofit/>
          </a:bodyPr>
          <a:lstStyle>
            <a:lvl1pPr marL="0" indent="0">
              <a:buNone/>
              <a:defRPr sz="1400">
                <a:solidFill>
                  <a:schemeClr val="bg1"/>
                </a:solidFill>
              </a:defRPr>
            </a:lvl1pPr>
          </a:lstStyle>
          <a:p>
            <a:r>
              <a:rPr lang="da-DK" noProof="0"/>
              <a:t>Indsæt billede (hent billede fra egen pc ved at klikke på ikonet eller hent fra billedarkiv via link i Inspiration &amp; vejledningssektionen)</a:t>
            </a:r>
          </a:p>
        </p:txBody>
      </p:sp>
      <p:pic>
        <p:nvPicPr>
          <p:cNvPr id="11" name="Billede 10">
            <a:extLst>
              <a:ext uri="{FF2B5EF4-FFF2-40B4-BE49-F238E27FC236}">
                <a16:creationId xmlns:a16="http://schemas.microsoft.com/office/drawing/2014/main" id="{459A3834-E0B2-18F1-A51E-E71BAC9FD37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60686" y="3115928"/>
            <a:ext cx="1752935" cy="1752935"/>
          </a:xfrm>
          <a:prstGeom prst="rect">
            <a:avLst/>
          </a:prstGeom>
        </p:spPr>
      </p:pic>
      <p:pic>
        <p:nvPicPr>
          <p:cNvPr id="8" name="Billede 7">
            <a:extLst>
              <a:ext uri="{FF2B5EF4-FFF2-40B4-BE49-F238E27FC236}">
                <a16:creationId xmlns:a16="http://schemas.microsoft.com/office/drawing/2014/main" id="{6045DD33-B123-76EA-CCD1-6F4CED3DEB75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300" t="24487" r="10726" b="23552"/>
          <a:stretch/>
        </p:blipFill>
        <p:spPr>
          <a:xfrm>
            <a:off x="10344801" y="288000"/>
            <a:ext cx="1488611" cy="5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937224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theme" Target="../theme/theme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dsholder til titel 1" descr="Titel">
            <a:extLst>
              <a:ext uri="{FF2B5EF4-FFF2-40B4-BE49-F238E27FC236}">
                <a16:creationId xmlns:a16="http://schemas.microsoft.com/office/drawing/2014/main" id="{3A5803CF-0F69-4E3C-6FD0-DAC1D496E5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20000" y="453357"/>
            <a:ext cx="9290274" cy="504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r>
              <a:rPr lang="da-DK"/>
              <a:t>Titel</a:t>
            </a:r>
          </a:p>
        </p:txBody>
      </p:sp>
      <p:sp>
        <p:nvSpPr>
          <p:cNvPr id="3" name="Pladsholder til tekst 2" descr="Indhold">
            <a:extLst>
              <a:ext uri="{FF2B5EF4-FFF2-40B4-BE49-F238E27FC236}">
                <a16:creationId xmlns:a16="http://schemas.microsoft.com/office/drawing/2014/main" id="{8A58E58A-C131-C47D-D3A3-3D05C89415C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19999" y="1921877"/>
            <a:ext cx="11103711" cy="4392000"/>
          </a:xfrm>
          <a:prstGeom prst="rect">
            <a:avLst/>
          </a:prstGeom>
        </p:spPr>
        <p:txBody>
          <a:bodyPr vert="horz" lIns="0" tIns="0" rIns="0" bIns="0" rtlCol="0" anchor="t" anchorCtr="0">
            <a:normAutofit/>
          </a:bodyPr>
          <a:lstStyle/>
          <a:p>
            <a:pPr lvl="0"/>
            <a:r>
              <a:rPr lang="da-DK"/>
              <a:t>Tekst</a:t>
            </a:r>
          </a:p>
          <a:p>
            <a:pPr lvl="1"/>
            <a:r>
              <a:rPr lang="da-DK"/>
              <a:t>Andet niveau</a:t>
            </a:r>
          </a:p>
          <a:p>
            <a:pPr lvl="2"/>
            <a:r>
              <a:rPr lang="da-DK"/>
              <a:t>Tredje niveau</a:t>
            </a:r>
          </a:p>
          <a:p>
            <a:pPr lvl="3"/>
            <a:r>
              <a:rPr lang="da-DK"/>
              <a:t>Fjerde niveau</a:t>
            </a:r>
          </a:p>
          <a:p>
            <a:pPr lvl="4"/>
            <a:r>
              <a:rPr lang="da-DK"/>
              <a:t>Femte niveau</a:t>
            </a:r>
          </a:p>
        </p:txBody>
      </p:sp>
      <p:sp>
        <p:nvSpPr>
          <p:cNvPr id="4" name="Pladsholder til dato 3">
            <a:extLst>
              <a:ext uri="{FF2B5EF4-FFF2-40B4-BE49-F238E27FC236}">
                <a16:creationId xmlns:a16="http://schemas.microsoft.com/office/drawing/2014/main" id="{F9BBEDB5-9CD1-62D9-0474-36CA045397E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720000" y="6481011"/>
            <a:ext cx="27432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1200">
                <a:solidFill>
                  <a:schemeClr val="tx1"/>
                </a:solidFill>
              </a:defRPr>
            </a:lvl1pPr>
          </a:lstStyle>
          <a:p>
            <a:fld id="{BE0C0513-934A-41A1-AF92-F7422FCEADC1}" type="datetimeFigureOut">
              <a:rPr lang="da-DK" smtClean="0"/>
              <a:pPr/>
              <a:t>04-11-2025</a:t>
            </a:fld>
            <a:endParaRPr lang="da-DK"/>
          </a:p>
        </p:txBody>
      </p:sp>
      <p:sp>
        <p:nvSpPr>
          <p:cNvPr id="5" name="Pladsholder til sidefod 4">
            <a:extLst>
              <a:ext uri="{FF2B5EF4-FFF2-40B4-BE49-F238E27FC236}">
                <a16:creationId xmlns:a16="http://schemas.microsoft.com/office/drawing/2014/main" id="{22D4F00D-609D-0332-69BD-1DD2FE1A4A5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199020" y="6481011"/>
            <a:ext cx="41148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ctr">
              <a:defRPr sz="1200">
                <a:solidFill>
                  <a:schemeClr val="tx1"/>
                </a:solidFill>
              </a:defRPr>
            </a:lvl1pPr>
          </a:lstStyle>
          <a:p>
            <a:endParaRPr lang="da-DK"/>
          </a:p>
        </p:txBody>
      </p:sp>
      <p:sp>
        <p:nvSpPr>
          <p:cNvPr id="6" name="Pladsholder til slidenummer 5">
            <a:extLst>
              <a:ext uri="{FF2B5EF4-FFF2-40B4-BE49-F238E27FC236}">
                <a16:creationId xmlns:a16="http://schemas.microsoft.com/office/drawing/2014/main" id="{FF9D7881-05FB-C3E1-8B4A-FB7F2B2E46E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80510" y="6481011"/>
            <a:ext cx="2743200" cy="240464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1200">
                <a:solidFill>
                  <a:schemeClr val="tx1"/>
                </a:solidFill>
              </a:defRPr>
            </a:lvl1pPr>
          </a:lstStyle>
          <a:p>
            <a:fld id="{350DE7CE-C3B6-4610-96B0-534B01CDCF4F}" type="slidenum">
              <a:rPr lang="da-DK" smtClean="0"/>
              <a:pPr/>
              <a:t>‹#›</a:t>
            </a:fld>
            <a:endParaRPr lang="da-DK"/>
          </a:p>
        </p:txBody>
      </p:sp>
    </p:spTree>
    <p:extLst>
      <p:ext uri="{BB962C8B-B14F-4D97-AF65-F5344CB8AC3E}">
        <p14:creationId xmlns:p14="http://schemas.microsoft.com/office/powerpoint/2010/main" val="238629781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  <p:sldLayoutId id="2147483676" r:id="rId2"/>
    <p:sldLayoutId id="2147483677" r:id="rId3"/>
    <p:sldLayoutId id="2147483678" r:id="rId4"/>
    <p:sldLayoutId id="2147483696" r:id="rId5"/>
    <p:sldLayoutId id="2147483686" r:id="rId6"/>
    <p:sldLayoutId id="2147483685" r:id="rId7"/>
    <p:sldLayoutId id="2147483697" r:id="rId8"/>
    <p:sldLayoutId id="2147483679" r:id="rId9"/>
    <p:sldLayoutId id="2147483699" r:id="rId10"/>
    <p:sldLayoutId id="2147483687" r:id="rId11"/>
    <p:sldLayoutId id="2147483688" r:id="rId12"/>
    <p:sldLayoutId id="2147483689" r:id="rId13"/>
    <p:sldLayoutId id="2147483698" r:id="rId14"/>
    <p:sldLayoutId id="2147483690" r:id="rId15"/>
    <p:sldLayoutId id="2147483691" r:id="rId16"/>
    <p:sldLayoutId id="2147483692" r:id="rId17"/>
    <p:sldLayoutId id="2147483694" r:id="rId18"/>
    <p:sldLayoutId id="2147483695" r:id="rId19"/>
    <p:sldLayoutId id="2147483693" r:id="rId20"/>
  </p:sldLayoutIdLst>
  <p:txStyles>
    <p:titleStyle>
      <a:lvl1pPr marL="0" algn="l" defTabSz="914400" rtl="0" eaLnBrk="1" latinLnBrk="0" hangingPunct="1">
        <a:lnSpc>
          <a:spcPct val="100000"/>
        </a:lnSpc>
        <a:spcBef>
          <a:spcPct val="0"/>
        </a:spcBef>
        <a:buNone/>
        <a:defRPr lang="en-GB" sz="3200" b="1" kern="1200" cap="none" baseline="0" dirty="0">
          <a:solidFill>
            <a:srgbClr val="B51412"/>
          </a:solidFill>
          <a:latin typeface="+mn-lt"/>
          <a:ea typeface="+mj-ea"/>
          <a:cs typeface="+mj-cs"/>
        </a:defRPr>
      </a:lvl1pPr>
    </p:titleStyle>
    <p:bodyStyle>
      <a:lvl1pPr marL="342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lang="da-DK" sz="2400" kern="1200" dirty="0" smtClean="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684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026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368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692000" indent="-342000" algn="l" defTabSz="914400" rtl="0" eaLnBrk="1" latinLnBrk="0" hangingPunct="1">
        <a:lnSpc>
          <a:spcPct val="100000"/>
        </a:lnSpc>
        <a:spcBef>
          <a:spcPts val="0"/>
        </a:spcBef>
        <a:buClr>
          <a:schemeClr val="accent1"/>
        </a:buClr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a-DK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si.dk/aktuelt/nyheder/2024/millionstoette-til-ai-drevet-forskning-i-blodforgiftning" TargetMode="External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gif"/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gif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6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82CAF4-74DD-F8DC-685F-01E721B84C2C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GB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Vibe coding </a:t>
            </a:r>
            <a:r>
              <a:rPr lang="en-GB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GB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AI-</a:t>
            </a:r>
            <a:r>
              <a:rPr lang="en-GB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assisteret</a:t>
            </a:r>
            <a:r>
              <a:rPr lang="en-GB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GB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udvikling</a:t>
            </a:r>
            <a:r>
              <a:rPr lang="en-GB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GB" err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GB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 geodata-dashboards</a:t>
            </a:r>
            <a:endParaRPr lang="en-US"/>
          </a:p>
          <a:p>
            <a:endParaRPr lang="en-GB">
              <a:ea typeface="Calibri"/>
              <a:cs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07442128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itel 13">
            <a:extLst>
              <a:ext uri="{FF2B5EF4-FFF2-40B4-BE49-F238E27FC236}">
                <a16:creationId xmlns:a16="http://schemas.microsoft.com/office/drawing/2014/main" id="{14D4D76C-8DC1-C33F-AEEE-430CAF79BF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32374" y="5378277"/>
            <a:ext cx="10740525" cy="684000"/>
          </a:xfrm>
        </p:spPr>
        <p:txBody>
          <a:bodyPr>
            <a:normAutofit/>
          </a:bodyPr>
          <a:lstStyle/>
          <a:p>
            <a:r>
              <a:rPr lang="da-DK" sz="3200">
                <a:solidFill>
                  <a:srgbClr val="B51412"/>
                </a:solidFill>
                <a:latin typeface="Calibri"/>
                <a:ea typeface="Calibri"/>
                <a:cs typeface="Calibri"/>
              </a:rPr>
              <a:t>AI + data =&gt; dashboards på rekordtid</a:t>
            </a:r>
            <a:endParaRPr lang="en-US"/>
          </a:p>
          <a:p>
            <a:endParaRPr lang="da-DK" sz="3200">
              <a:ea typeface="Calibri"/>
              <a:cs typeface="Calibri"/>
            </a:endParaRP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D04ED070-EF61-D477-2474-1DFFABB4073B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  <p:pic>
        <p:nvPicPr>
          <p:cNvPr id="4" name="Pladsholder til billede 17">
            <a:extLst>
              <a:ext uri="{FF2B5EF4-FFF2-40B4-BE49-F238E27FC236}">
                <a16:creationId xmlns:a16="http://schemas.microsoft.com/office/drawing/2014/main" id="{F13DC927-9E9D-FC18-44B6-6815EF6F3A01}"/>
              </a:ext>
            </a:extLst>
          </p:cNvPr>
          <p:cNvPicPr>
            <a:picLocks noChangeAspect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5622" b="10646"/>
          <a:stretch/>
        </p:blipFill>
        <p:spPr>
          <a:xfrm>
            <a:off x="0" y="1126799"/>
            <a:ext cx="12192000" cy="38528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315673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A3B007-46C8-F833-9795-8D2E6434BB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Hvad</a:t>
            </a:r>
            <a:r>
              <a:rPr lang="en-US">
                <a:ea typeface="Calibri"/>
                <a:cs typeface="Calibri"/>
              </a:rPr>
              <a:t> er SSI (Statens Serum </a:t>
            </a:r>
            <a:r>
              <a:rPr lang="en-US" err="1">
                <a:ea typeface="Calibri"/>
                <a:cs typeface="Calibri"/>
              </a:rPr>
              <a:t>Institut</a:t>
            </a:r>
            <a:r>
              <a:rPr lang="en-US">
                <a:ea typeface="Calibri"/>
                <a:cs typeface="Calibri"/>
              </a:rPr>
              <a:t>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26721B0-FF19-2170-252C-BD397E005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341630" indent="-341630"/>
            <a:r>
              <a:rPr lang="en-US" sz="280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Hvad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sz="280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hvem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er SSI </a:t>
            </a:r>
            <a:r>
              <a:rPr lang="en-US" sz="280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og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 </a:t>
            </a:r>
            <a:r>
              <a:rPr lang="en-US" sz="280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</a:t>
            </a:r>
            <a:r>
              <a:rPr lang="en-US" sz="280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vordan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 </a:t>
            </a:r>
            <a:r>
              <a:rPr lang="en-US" sz="280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arbejder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 vi med AI</a:t>
            </a:r>
            <a:r>
              <a:rPr lang="en-US" sz="280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?</a:t>
            </a:r>
            <a:endParaRPr lang="en-US" sz="280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er under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Indenrigs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-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Sundhedsministeriet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forebygger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bekæmper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infektionssygdomme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medfødte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sygdomme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har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nedskrevne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retninglinjer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brug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muligheder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for at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søge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om at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benytte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på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nye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måder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eller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nye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sammenhænge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  <a:endParaRPr lang="en-US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bruger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seriøst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- se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fx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  <a:hlinkClick r:id="rId2"/>
              </a:rPr>
              <a:t>blodforgiftningsprojekt med AI-brug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</a:t>
            </a: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SSI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har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en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godkendt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AI-prompt. </a:t>
            </a:r>
            <a:endParaRPr lang="en-US">
              <a:ea typeface="Calibri"/>
              <a:cs typeface="Calibri"/>
            </a:endParaRPr>
          </a:p>
          <a:p>
            <a:pPr marL="341630" indent="-341630"/>
            <a:endParaRPr lang="en-US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9326453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8EA3BE-0623-3889-2644-F716183FB2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Hvem</a:t>
            </a:r>
            <a:r>
              <a:rPr lang="en-US">
                <a:latin typeface="Calibri"/>
                <a:ea typeface="Calibri"/>
                <a:cs typeface="Calibri"/>
              </a:rPr>
              <a:t> er Steen </a:t>
            </a:r>
            <a:r>
              <a:rPr lang="en-US" err="1">
                <a:latin typeface="Calibri"/>
                <a:ea typeface="Calibri"/>
                <a:cs typeface="Calibri"/>
              </a:rPr>
              <a:t>Hulthin</a:t>
            </a:r>
            <a:r>
              <a:rPr lang="en-US">
                <a:latin typeface="Calibri"/>
                <a:ea typeface="Calibri"/>
                <a:cs typeface="Calibri"/>
              </a:rPr>
              <a:t> Rasmussen?</a:t>
            </a:r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15321C7-DE43-DA87-97C8-11F4CC7E52E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63474" y="1921877"/>
            <a:ext cx="6160236" cy="4392000"/>
          </a:xfrm>
        </p:spPr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    Steen 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datadomptør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udvikler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/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kaffedrikker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    Steen 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arbejder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til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daglig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med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datapipelines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udvikling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dashboards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    Steen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synes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 er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lige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dele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fremtiden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et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fantastisk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værktøj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skræmmende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fascinerende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kildekritikfremkaldende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endParaRPr lang="en-US">
              <a:ea typeface="Calibri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EEF41A1-E6BB-2565-F429-D6FFC1464F6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8942" y="1548791"/>
            <a:ext cx="4762500" cy="4762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184646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2007B8-31A9-8191-2CEA-180143E7822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Hvad</a:t>
            </a:r>
            <a:r>
              <a:rPr lang="en-US">
                <a:latin typeface="Calibri"/>
                <a:ea typeface="Calibri"/>
                <a:cs typeface="Calibri"/>
              </a:rPr>
              <a:t> er “Vibe Coding”?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967AD1F-6B04-786A-D6BC-23E20B9708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0474" y="1931402"/>
            <a:ext cx="11103711" cy="4392000"/>
          </a:xfrm>
        </p:spPr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Vibe coding er et ret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nyt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udtryk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(2025),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som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blev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"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opfundet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"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af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en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co-founder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af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OpenAI (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som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står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for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chatgpt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) </a:t>
            </a:r>
            <a:endParaRPr lang="en-US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Konceptet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er at AI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skriver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koden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du - 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som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-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ikke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nødvendigvis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forstår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alt (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eller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noget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overhovedet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af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koden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. </a:t>
            </a:r>
            <a:endParaRPr lang="en-US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Vibe coding: AI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som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makker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 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IDE’et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autofuldførelse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, chat,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kodeforslag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</a:t>
            </a:r>
            <a:endParaRPr lang="en-US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AI-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assisteret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udvikling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: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manuel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prompt-workflow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udenfor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IDE’et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 (den "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almindelige"prompt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Calibri"/>
              </a:rPr>
              <a:t>)</a:t>
            </a:r>
            <a:endParaRPr lang="en-US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223507468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11E846-52CA-2B0D-FF23-25DBFCF4A3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>
                <a:latin typeface="Calibri"/>
                <a:ea typeface="Calibri"/>
                <a:cs typeface="Calibri"/>
              </a:rPr>
              <a:t>Mission briefing </a:t>
            </a:r>
            <a:r>
              <a:rPr lang="en-US" err="1">
                <a:latin typeface="Calibri"/>
                <a:ea typeface="Calibri"/>
                <a:cs typeface="Calibri"/>
              </a:rPr>
              <a:t>og</a:t>
            </a:r>
            <a:r>
              <a:rPr lang="en-US">
                <a:latin typeface="Calibri"/>
                <a:ea typeface="Calibri"/>
                <a:cs typeface="Calibri"/>
              </a:rPr>
              <a:t> </a:t>
            </a:r>
            <a:r>
              <a:rPr lang="en-US" err="1">
                <a:latin typeface="Calibri"/>
                <a:ea typeface="Calibri"/>
                <a:cs typeface="Calibri"/>
              </a:rPr>
              <a:t>ambitionen</a:t>
            </a:r>
            <a:endParaRPr lang="en-US" err="1"/>
          </a:p>
          <a:p>
            <a:endParaRPr lang="en-US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26AB663-BD64-8E36-D77C-A6646F2506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pPr marL="341630" indent="-341630"/>
            <a:r>
              <a:rPr lang="en-US" err="1">
                <a:ea typeface="Calibri"/>
                <a:cs typeface="Arial"/>
              </a:rPr>
              <a:t>Mål</a:t>
            </a:r>
            <a:r>
              <a:rPr lang="en-US">
                <a:ea typeface="Calibri"/>
                <a:cs typeface="Arial"/>
              </a:rPr>
              <a:t>: </a:t>
            </a:r>
            <a:r>
              <a:rPr lang="en-US" err="1">
                <a:ea typeface="Calibri"/>
                <a:cs typeface="Arial"/>
              </a:rPr>
              <a:t>bygge</a:t>
            </a:r>
            <a:r>
              <a:rPr lang="en-US">
                <a:ea typeface="Calibri"/>
                <a:cs typeface="Arial"/>
              </a:rPr>
              <a:t> dashboards </a:t>
            </a:r>
            <a:r>
              <a:rPr lang="en-US" err="1">
                <a:ea typeface="Calibri"/>
                <a:cs typeface="Arial"/>
              </a:rPr>
              <a:t>hurtigt</a:t>
            </a:r>
            <a:r>
              <a:rPr lang="en-US">
                <a:ea typeface="Calibri"/>
                <a:cs typeface="Arial"/>
              </a:rPr>
              <a:t> </a:t>
            </a:r>
            <a:r>
              <a:rPr lang="en-US" err="1">
                <a:ea typeface="Calibri"/>
                <a:cs typeface="Arial"/>
              </a:rPr>
              <a:t>og</a:t>
            </a:r>
            <a:r>
              <a:rPr lang="en-US">
                <a:ea typeface="Calibri"/>
                <a:cs typeface="Arial"/>
              </a:rPr>
              <a:t> spare </a:t>
            </a:r>
            <a:r>
              <a:rPr lang="en-US" err="1">
                <a:ea typeface="Calibri"/>
                <a:cs typeface="Arial"/>
              </a:rPr>
              <a:t>Kortdage-deltagerne</a:t>
            </a:r>
            <a:r>
              <a:rPr lang="en-US">
                <a:ea typeface="Calibri"/>
                <a:cs typeface="Arial"/>
              </a:rPr>
              <a:t> for </a:t>
            </a:r>
            <a:r>
              <a:rPr lang="en-US" err="1">
                <a:ea typeface="Calibri"/>
                <a:cs typeface="Arial"/>
              </a:rPr>
              <a:t>faldgruberne</a:t>
            </a:r>
            <a:endParaRPr lang="en-US">
              <a:ea typeface="Calibri"/>
              <a:cs typeface="Arial"/>
            </a:endParaRPr>
          </a:p>
          <a:p>
            <a:pPr marL="341630" indent="-341630"/>
            <a:r>
              <a:rPr lang="en-US">
                <a:ea typeface="Calibri"/>
                <a:cs typeface="Calibri"/>
              </a:rPr>
              <a:t>Data: COVID-19 </a:t>
            </a:r>
            <a:r>
              <a:rPr lang="en-US" err="1">
                <a:ea typeface="Calibri"/>
                <a:cs typeface="Calibri"/>
              </a:rPr>
              <a:t>tal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på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globalt</a:t>
            </a:r>
            <a:r>
              <a:rPr lang="en-US">
                <a:ea typeface="Calibri"/>
                <a:cs typeface="Calibri"/>
              </a:rPr>
              <a:t>, EU-, </a:t>
            </a:r>
            <a:r>
              <a:rPr lang="en-US" err="1">
                <a:ea typeface="Calibri"/>
                <a:cs typeface="Calibri"/>
              </a:rPr>
              <a:t>nordisk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og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dansk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niveau</a:t>
            </a:r>
            <a:endParaRPr lang="en-US" err="1">
              <a:ea typeface="Calibri"/>
            </a:endParaRPr>
          </a:p>
          <a:p>
            <a:pPr marL="341630" indent="-341630"/>
            <a:r>
              <a:rPr lang="en-US">
                <a:ea typeface="Calibri"/>
                <a:cs typeface="Calibri"/>
              </a:rPr>
              <a:t>        - </a:t>
            </a:r>
            <a:r>
              <a:rPr lang="en-US" err="1">
                <a:ea typeface="Calibri"/>
                <a:cs typeface="Calibri"/>
              </a:rPr>
              <a:t>globalt</a:t>
            </a:r>
            <a:r>
              <a:rPr lang="en-US">
                <a:ea typeface="Calibri"/>
                <a:cs typeface="Calibri"/>
              </a:rPr>
              <a:t>: Our world in data (OWID)</a:t>
            </a:r>
          </a:p>
          <a:p>
            <a:pPr marL="341630" indent="-341630"/>
            <a:r>
              <a:rPr lang="en-US">
                <a:ea typeface="Calibri"/>
                <a:cs typeface="Calibri"/>
              </a:rPr>
              <a:t>        - EU: ECDC </a:t>
            </a:r>
          </a:p>
          <a:p>
            <a:pPr marL="341630" indent="-341630"/>
            <a:r>
              <a:rPr lang="en-US">
                <a:ea typeface="Calibri"/>
                <a:cs typeface="Calibri"/>
              </a:rPr>
              <a:t>        - Dansk: SSI </a:t>
            </a:r>
            <a:endParaRPr lang="en-US">
              <a:ea typeface="Calibri"/>
            </a:endParaRPr>
          </a:p>
          <a:p>
            <a:pPr marL="341630" indent="-341630"/>
            <a:r>
              <a:rPr lang="en-US" err="1">
                <a:ea typeface="Calibri"/>
                <a:cs typeface="Calibri"/>
              </a:rPr>
              <a:t>Værktøjer</a:t>
            </a:r>
            <a:r>
              <a:rPr lang="en-US">
                <a:ea typeface="Calibri"/>
                <a:cs typeface="Calibri"/>
              </a:rPr>
              <a:t>: </a:t>
            </a:r>
            <a:r>
              <a:rPr lang="en-US" err="1">
                <a:ea typeface="Calibri"/>
                <a:cs typeface="Calibri"/>
              </a:rPr>
              <a:t>Streamlit</a:t>
            </a:r>
            <a:r>
              <a:rPr lang="en-US">
                <a:ea typeface="Calibri"/>
                <a:cs typeface="Calibri"/>
              </a:rPr>
              <a:t>, Shiny, Dash, ArcGIS (API + Dashboards/Viewer), Power BI</a:t>
            </a:r>
            <a:endParaRPr lang="en-US">
              <a:ea typeface="Calibri"/>
            </a:endParaRPr>
          </a:p>
          <a:p>
            <a:pPr marL="341630" indent="-341630"/>
            <a:r>
              <a:rPr lang="en-US" err="1">
                <a:ea typeface="Calibri"/>
                <a:cs typeface="Calibri"/>
              </a:rPr>
              <a:t>Tidsramme</a:t>
            </a:r>
            <a:r>
              <a:rPr lang="en-US">
                <a:ea typeface="Calibri"/>
                <a:cs typeface="Calibri"/>
              </a:rPr>
              <a:t>: 5 </a:t>
            </a:r>
            <a:r>
              <a:rPr lang="en-US" err="1">
                <a:ea typeface="Calibri"/>
                <a:cs typeface="Calibri"/>
              </a:rPr>
              <a:t>fredage</a:t>
            </a:r>
            <a:r>
              <a:rPr lang="en-US">
                <a:ea typeface="Calibri"/>
                <a:cs typeface="Calibri"/>
              </a:rPr>
              <a:t> (</a:t>
            </a:r>
            <a:r>
              <a:rPr lang="en-US" err="1">
                <a:ea typeface="Calibri"/>
                <a:cs typeface="Calibri"/>
              </a:rPr>
              <a:t>som</a:t>
            </a:r>
            <a:r>
              <a:rPr lang="en-US">
                <a:ea typeface="Calibri"/>
                <a:cs typeface="Calibri"/>
              </a:rPr>
              <a:t> var </a:t>
            </a:r>
            <a:r>
              <a:rPr lang="en-US" err="1">
                <a:ea typeface="Calibri"/>
                <a:cs typeface="Calibri"/>
              </a:rPr>
              <a:t>lige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i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underkanten</a:t>
            </a:r>
            <a:r>
              <a:rPr lang="en-US">
                <a:ea typeface="Calibri"/>
                <a:cs typeface="Calibri"/>
              </a:rPr>
              <a:t>) → 20 </a:t>
            </a:r>
            <a:r>
              <a:rPr lang="en-US" err="1">
                <a:ea typeface="Calibri"/>
                <a:cs typeface="Calibri"/>
              </a:rPr>
              <a:t>minutters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præsentation</a:t>
            </a:r>
            <a:endParaRPr lang="en-US" err="1"/>
          </a:p>
          <a:p>
            <a:pPr marL="341630" indent="-341630"/>
            <a:endParaRPr lang="en-US">
              <a:ea typeface="Calibri"/>
            </a:endParaRPr>
          </a:p>
          <a:p>
            <a:pPr marL="341630" indent="-341630"/>
            <a:r>
              <a:rPr lang="en-US" err="1">
                <a:ea typeface="Calibri"/>
                <a:cs typeface="Arial"/>
              </a:rPr>
              <a:t>Ambitionen</a:t>
            </a:r>
            <a:r>
              <a:rPr lang="en-US">
                <a:ea typeface="Calibri"/>
                <a:cs typeface="Arial"/>
              </a:rPr>
              <a:t> (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det var ret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ambitiøst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...</a:t>
            </a:r>
            <a:endParaRPr lang="en-US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indent="-341630"/>
            <a:r>
              <a:rPr lang="en-US" err="1">
                <a:ea typeface="+mn-lt"/>
                <a:cs typeface="+mn-lt"/>
              </a:rPr>
              <a:t>Lær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forstå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videreformidl</a:t>
            </a:r>
            <a:endParaRPr lang="en-US" err="1">
              <a:ea typeface="Calibri"/>
            </a:endParaRPr>
          </a:p>
          <a:p>
            <a:pPr marL="683895" lvl="1" indent="-341630"/>
            <a:r>
              <a:rPr lang="en-US">
                <a:ea typeface="+mn-lt"/>
                <a:cs typeface="+mn-lt"/>
              </a:rPr>
              <a:t>Lad alt </a:t>
            </a:r>
            <a:r>
              <a:rPr lang="en-US" err="1">
                <a:ea typeface="+mn-lt"/>
                <a:cs typeface="+mn-lt"/>
              </a:rPr>
              <a:t>materiale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være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tilgængelig</a:t>
            </a:r>
            <a:endParaRPr lang="en-US" err="1"/>
          </a:p>
          <a:p>
            <a:pPr marL="683895" lvl="1" indent="-341630"/>
            <a:r>
              <a:rPr lang="en-US">
                <a:ea typeface="+mn-lt"/>
                <a:cs typeface="+mn-lt"/>
              </a:rPr>
              <a:t>Kom </a:t>
            </a:r>
            <a:r>
              <a:rPr lang="en-US" err="1">
                <a:ea typeface="+mn-lt"/>
                <a:cs typeface="+mn-lt"/>
              </a:rPr>
              <a:t>så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langt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som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muligt</a:t>
            </a:r>
            <a:endParaRPr lang="en-US" err="1"/>
          </a:p>
          <a:p>
            <a:pPr marL="683895" lvl="1" indent="-341630"/>
            <a:r>
              <a:rPr lang="en-US" err="1">
                <a:ea typeface="+mn-lt"/>
                <a:cs typeface="+mn-lt"/>
              </a:rPr>
              <a:t>Hav</a:t>
            </a:r>
            <a:r>
              <a:rPr lang="en-US">
                <a:ea typeface="+mn-lt"/>
                <a:cs typeface="+mn-lt"/>
              </a:rPr>
              <a:t> det </a:t>
            </a:r>
            <a:r>
              <a:rPr lang="en-US" err="1">
                <a:ea typeface="+mn-lt"/>
                <a:cs typeface="+mn-lt"/>
              </a:rPr>
              <a:t>sjovt</a:t>
            </a:r>
            <a:endParaRPr lang="en-US" err="1"/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3753545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A4A3439-05F0-1C77-EC57-467B2AA493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GB" err="1">
                <a:latin typeface="Calibri"/>
                <a:ea typeface="Calibri"/>
                <a:cs typeface="Calibri"/>
              </a:rPr>
              <a:t>Første</a:t>
            </a:r>
            <a:r>
              <a:rPr lang="en-GB">
                <a:latin typeface="Calibri"/>
                <a:ea typeface="Calibri"/>
                <a:cs typeface="Calibri"/>
              </a:rPr>
              <a:t> aha-</a:t>
            </a:r>
            <a:r>
              <a:rPr lang="en-GB" err="1">
                <a:latin typeface="Calibri"/>
                <a:ea typeface="Calibri"/>
                <a:cs typeface="Calibri"/>
              </a:rPr>
              <a:t>oplevelse</a:t>
            </a:r>
            <a:r>
              <a:rPr lang="en-GB">
                <a:latin typeface="Calibri"/>
                <a:ea typeface="Calibri"/>
                <a:cs typeface="Calibri"/>
              </a:rPr>
              <a:t> (</a:t>
            </a:r>
            <a:r>
              <a:rPr lang="en-GB" err="1">
                <a:latin typeface="Calibri"/>
                <a:ea typeface="Calibri"/>
                <a:cs typeface="Calibri"/>
              </a:rPr>
              <a:t>Optimisme</a:t>
            </a:r>
            <a:r>
              <a:rPr lang="en-GB">
                <a:latin typeface="Calibri"/>
                <a:ea typeface="Calibri"/>
                <a:cs typeface="Calibri"/>
              </a:rPr>
              <a:t> -&gt; realisme)</a:t>
            </a:r>
            <a:endParaRPr lang="en-US"/>
          </a:p>
          <a:p>
            <a:endParaRPr lang="en-GB">
              <a:ea typeface="Calibri"/>
              <a:cs typeface="Calibri"/>
            </a:endParaRPr>
          </a:p>
        </p:txBody>
      </p:sp>
      <p:sp>
        <p:nvSpPr>
          <p:cNvPr id="3" name="Pladsholder til indhold 2">
            <a:extLst>
              <a:ext uri="{FF2B5EF4-FFF2-40B4-BE49-F238E27FC236}">
                <a16:creationId xmlns:a16="http://schemas.microsoft.com/office/drawing/2014/main" id="{326E8365-DE1F-A167-5123-F4B83D38D5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848808"/>
            <a:ext cx="11103711" cy="4465069"/>
          </a:xfrm>
        </p:spPr>
        <p:txBody>
          <a:bodyPr/>
          <a:lstStyle/>
          <a:p>
            <a:pPr marL="341630" indent="-341630"/>
            <a:r>
              <a:rPr lang="en-GB">
                <a:ea typeface="+mn-lt"/>
                <a:cs typeface="+mn-lt"/>
              </a:rPr>
              <a:t>Steen: "Lad AI lave </a:t>
            </a:r>
            <a:r>
              <a:rPr lang="en-GB" err="1">
                <a:ea typeface="+mn-lt"/>
                <a:cs typeface="+mn-lt"/>
              </a:rPr>
              <a:t>en</a:t>
            </a:r>
            <a:r>
              <a:rPr lang="en-GB">
                <a:ea typeface="+mn-lt"/>
                <a:cs typeface="+mn-lt"/>
              </a:rPr>
              <a:t> PowerPoint-</a:t>
            </a:r>
            <a:r>
              <a:rPr lang="en-GB" err="1">
                <a:ea typeface="+mn-lt"/>
                <a:cs typeface="+mn-lt"/>
              </a:rPr>
              <a:t>præsentation</a:t>
            </a:r>
            <a:r>
              <a:rPr lang="en-GB">
                <a:ea typeface="+mn-lt"/>
                <a:cs typeface="+mn-lt"/>
              </a:rPr>
              <a:t> </a:t>
            </a:r>
            <a:r>
              <a:rPr lang="en-GB" err="1">
                <a:ea typeface="+mn-lt"/>
                <a:cs typeface="+mn-lt"/>
              </a:rPr>
              <a:t>i</a:t>
            </a:r>
            <a:r>
              <a:rPr lang="en-GB">
                <a:ea typeface="+mn-lt"/>
                <a:cs typeface="+mn-lt"/>
              </a:rPr>
              <a:t> SSI </a:t>
            </a:r>
            <a:r>
              <a:rPr lang="en-GB" err="1">
                <a:ea typeface="+mn-lt"/>
                <a:cs typeface="+mn-lt"/>
              </a:rPr>
              <a:t>skabelonen</a:t>
            </a:r>
            <a:r>
              <a:rPr lang="en-GB">
                <a:ea typeface="+mn-lt"/>
                <a:cs typeface="+mn-lt"/>
              </a:rPr>
              <a:t>..."</a:t>
            </a:r>
            <a:endParaRPr lang="en-US"/>
          </a:p>
          <a:p>
            <a:pPr marL="341630" indent="-341630"/>
            <a:r>
              <a:rPr lang="en-GB">
                <a:ea typeface="+mn-lt"/>
                <a:cs typeface="+mn-lt"/>
              </a:rPr>
              <a:t>2 timer </a:t>
            </a:r>
            <a:r>
              <a:rPr lang="en-GB" err="1">
                <a:ea typeface="+mn-lt"/>
                <a:cs typeface="+mn-lt"/>
              </a:rPr>
              <a:t>og</a:t>
            </a:r>
            <a:r>
              <a:rPr lang="en-GB">
                <a:ea typeface="+mn-lt"/>
                <a:cs typeface="+mn-lt"/>
              </a:rPr>
              <a:t> mange </a:t>
            </a:r>
            <a:r>
              <a:rPr lang="en-GB" err="1">
                <a:ea typeface="+mn-lt"/>
                <a:cs typeface="+mn-lt"/>
              </a:rPr>
              <a:t>forsøg</a:t>
            </a:r>
            <a:r>
              <a:rPr lang="en-GB">
                <a:ea typeface="+mn-lt"/>
                <a:cs typeface="+mn-lt"/>
              </a:rPr>
              <a:t> </a:t>
            </a:r>
            <a:r>
              <a:rPr lang="en-GB" err="1">
                <a:ea typeface="+mn-lt"/>
                <a:cs typeface="+mn-lt"/>
              </a:rPr>
              <a:t>senere</a:t>
            </a:r>
            <a:r>
              <a:rPr lang="en-GB">
                <a:ea typeface="+mn-lt"/>
                <a:cs typeface="+mn-lt"/>
              </a:rPr>
              <a:t>: "</a:t>
            </a:r>
            <a:r>
              <a:rPr lang="en-GB" err="1">
                <a:ea typeface="+mn-lt"/>
                <a:cs typeface="+mn-lt"/>
              </a:rPr>
              <a:t>Nå</a:t>
            </a:r>
            <a:r>
              <a:rPr lang="en-GB">
                <a:ea typeface="+mn-lt"/>
                <a:cs typeface="+mn-lt"/>
              </a:rPr>
              <a:t>, </a:t>
            </a:r>
            <a:r>
              <a:rPr lang="en-GB" err="1">
                <a:ea typeface="+mn-lt"/>
                <a:cs typeface="+mn-lt"/>
              </a:rPr>
              <a:t>måske</a:t>
            </a:r>
            <a:r>
              <a:rPr lang="en-GB">
                <a:ea typeface="+mn-lt"/>
                <a:cs typeface="+mn-lt"/>
              </a:rPr>
              <a:t> er AI </a:t>
            </a:r>
            <a:r>
              <a:rPr lang="en-GB" err="1">
                <a:ea typeface="+mn-lt"/>
                <a:cs typeface="+mn-lt"/>
              </a:rPr>
              <a:t>bedre</a:t>
            </a:r>
            <a:r>
              <a:rPr lang="en-GB">
                <a:ea typeface="+mn-lt"/>
                <a:cs typeface="+mn-lt"/>
              </a:rPr>
              <a:t> </a:t>
            </a:r>
            <a:r>
              <a:rPr lang="en-GB" err="1">
                <a:ea typeface="+mn-lt"/>
                <a:cs typeface="+mn-lt"/>
              </a:rPr>
              <a:t>til</a:t>
            </a:r>
            <a:r>
              <a:rPr lang="en-GB">
                <a:ea typeface="+mn-lt"/>
                <a:cs typeface="+mn-lt"/>
              </a:rPr>
              <a:t> at </a:t>
            </a:r>
            <a:r>
              <a:rPr lang="en-GB" err="1">
                <a:ea typeface="+mn-lt"/>
                <a:cs typeface="+mn-lt"/>
              </a:rPr>
              <a:t>skrive</a:t>
            </a:r>
            <a:r>
              <a:rPr lang="en-GB">
                <a:ea typeface="+mn-lt"/>
                <a:cs typeface="+mn-lt"/>
              </a:rPr>
              <a:t> </a:t>
            </a:r>
            <a:r>
              <a:rPr lang="en-GB" err="1">
                <a:ea typeface="+mn-lt"/>
                <a:cs typeface="+mn-lt"/>
              </a:rPr>
              <a:t>kode</a:t>
            </a:r>
            <a:r>
              <a:rPr lang="en-GB">
                <a:ea typeface="+mn-lt"/>
                <a:cs typeface="+mn-lt"/>
              </a:rPr>
              <a:t> and PowerPoint..."</a:t>
            </a:r>
            <a:endParaRPr lang="en-GB"/>
          </a:p>
          <a:p>
            <a:pPr marL="341630" indent="-341630"/>
            <a:endParaRPr lang="en-GB">
              <a:ea typeface="Calibri"/>
              <a:cs typeface="Arial"/>
            </a:endParaRPr>
          </a:p>
          <a:p>
            <a:pPr marL="341630" indent="-341630"/>
            <a:endParaRPr lang="en-GB">
              <a:ea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76B8D8C-8853-90A0-FCDE-5830B4E03E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325" y="3100388"/>
            <a:ext cx="1352550" cy="3209925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9BCB495B-D9EA-CD41-8BC8-CE14FA518EF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43925" y="3105150"/>
            <a:ext cx="1466850" cy="320992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BE9886B2-222D-FB51-49BE-D1E7939A8660}"/>
              </a:ext>
            </a:extLst>
          </p:cNvPr>
          <p:cNvSpPr txBox="1"/>
          <p:nvPr/>
        </p:nvSpPr>
        <p:spPr>
          <a:xfrm>
            <a:off x="2630465" y="3319397"/>
            <a:ext cx="5782849" cy="646331"/>
          </a:xfrm>
          <a:prstGeom prst="rect">
            <a:avLst/>
          </a:prstGeom>
          <a:noFill/>
        </p:spPr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spAutoFit/>
          </a:bodyPr>
          <a:lstStyle/>
          <a:p>
            <a:r>
              <a:rPr lang="en-US">
                <a:ea typeface="Calibri"/>
                <a:cs typeface="Calibri"/>
              </a:rPr>
              <a:t>&lt;=    </a:t>
            </a:r>
            <a:r>
              <a:rPr lang="en-US" err="1">
                <a:ea typeface="Calibri"/>
                <a:cs typeface="Calibri"/>
              </a:rPr>
              <a:t>Skabelonen</a:t>
            </a:r>
            <a:r>
              <a:rPr lang="en-US">
                <a:ea typeface="Calibri"/>
                <a:cs typeface="Calibri"/>
              </a:rPr>
              <a:t> er </a:t>
            </a:r>
            <a:r>
              <a:rPr lang="en-US" err="1">
                <a:ea typeface="Calibri"/>
                <a:cs typeface="Calibri"/>
              </a:rPr>
              <a:t>ikke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rørt</a:t>
            </a:r>
            <a:r>
              <a:rPr lang="en-US">
                <a:ea typeface="Calibri"/>
                <a:cs typeface="Calibri"/>
              </a:rPr>
              <a:t>, men </a:t>
            </a:r>
            <a:r>
              <a:rPr lang="en-US" err="1">
                <a:ea typeface="Calibri"/>
                <a:cs typeface="Calibri"/>
              </a:rPr>
              <a:t>til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gengæld</a:t>
            </a:r>
            <a:r>
              <a:rPr lang="en-US">
                <a:ea typeface="Calibri"/>
                <a:cs typeface="Calibri"/>
              </a:rPr>
              <a:t> er der </a:t>
            </a:r>
            <a:r>
              <a:rPr lang="en-US" err="1">
                <a:ea typeface="Calibri"/>
                <a:cs typeface="Calibri"/>
              </a:rPr>
              <a:t>tilføjet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en</a:t>
            </a:r>
            <a:r>
              <a:rPr lang="en-US">
                <a:ea typeface="Calibri"/>
                <a:cs typeface="Calibri"/>
              </a:rPr>
              <a:t> masse slides der </a:t>
            </a:r>
            <a:r>
              <a:rPr lang="en-US" err="1">
                <a:ea typeface="Calibri"/>
                <a:cs typeface="Calibri"/>
              </a:rPr>
              <a:t>ikke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følger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skabelonen</a:t>
            </a:r>
            <a:r>
              <a:rPr lang="en-US">
                <a:ea typeface="Calibri"/>
                <a:cs typeface="Calibri"/>
              </a:rPr>
              <a:t>.   =&gt;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2940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451B6F-CB38-E7C7-B1F1-3CF81E1189D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Hvordan</a:t>
            </a:r>
            <a:r>
              <a:rPr lang="en-US">
                <a:ea typeface="Calibri"/>
                <a:cs typeface="Calibri"/>
              </a:rPr>
              <a:t> ser AI-</a:t>
            </a:r>
            <a:r>
              <a:rPr lang="en-US" err="1">
                <a:ea typeface="Calibri"/>
                <a:cs typeface="Calibri"/>
              </a:rPr>
              <a:t>assiteret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udvikling</a:t>
            </a:r>
            <a:r>
              <a:rPr lang="en-US">
                <a:ea typeface="Calibri"/>
                <a:cs typeface="Calibri"/>
              </a:rPr>
              <a:t> </a:t>
            </a:r>
            <a:r>
              <a:rPr lang="en-US" err="1">
                <a:ea typeface="Calibri"/>
                <a:cs typeface="Calibri"/>
              </a:rPr>
              <a:t>ud</a:t>
            </a:r>
            <a:r>
              <a:rPr lang="en-US">
                <a:ea typeface="Calibri"/>
                <a:cs typeface="Calibri"/>
              </a:rPr>
              <a:t>?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A8CEB831-9C17-8313-650C-732FE82D39A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1755" y="1586596"/>
            <a:ext cx="8582025" cy="4710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117203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F62B92-B5F3-81AA-00EE-5E4C65485AC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Hvordan</a:t>
            </a:r>
            <a:r>
              <a:rPr lang="en-US">
                <a:latin typeface="Calibri"/>
                <a:ea typeface="Calibri"/>
                <a:cs typeface="Calibri"/>
              </a:rPr>
              <a:t> ser Vibe Coding ud?</a:t>
            </a:r>
            <a:endParaRPr lang="en-US"/>
          </a:p>
          <a:p>
            <a:endParaRPr lang="en-US">
              <a:ea typeface="Calibri"/>
              <a:cs typeface="Calibri"/>
            </a:endParaRP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8FC32C97-8212-212E-385B-702D9101A2B7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63973" y="1584552"/>
            <a:ext cx="8569889" cy="49643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06282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8B8AF4-606C-49D3-028B-07ED9C2F91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Resultaterne</a:t>
            </a:r>
            <a:r>
              <a:rPr lang="en-US">
                <a:ea typeface="Calibri"/>
                <a:cs typeface="Calibri"/>
              </a:rPr>
              <a:t> – </a:t>
            </a:r>
            <a:r>
              <a:rPr lang="en-US" err="1">
                <a:ea typeface="Calibri"/>
                <a:cs typeface="Calibri"/>
              </a:rPr>
              <a:t>kunne</a:t>
            </a:r>
            <a:r>
              <a:rPr lang="en-US">
                <a:ea typeface="Calibri"/>
                <a:cs typeface="Calibri"/>
              </a:rPr>
              <a:t> AI lave dashboards med </a:t>
            </a:r>
            <a:r>
              <a:rPr lang="en-US" err="1">
                <a:ea typeface="Calibri"/>
                <a:cs typeface="Calibri"/>
              </a:rPr>
              <a:t>kort</a:t>
            </a:r>
            <a:r>
              <a:rPr lang="en-US">
                <a:ea typeface="Calibri"/>
                <a:cs typeface="Calibri"/>
              </a:rPr>
              <a:t>?</a:t>
            </a:r>
            <a:endParaRPr lang="en-US" err="1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FE50E0F-BAEF-367F-C670-B45273F8FFA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/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Streamlit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- prompts → global prototype</a:t>
            </a:r>
          </a:p>
          <a:p>
            <a:pPr marL="341630" indent="-341630"/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Prompt: 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"Lad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os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lave dashboards. Lad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os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starte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med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Streamlit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.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Streamlit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skal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være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med OWID data. Der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skal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øverst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være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et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kort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over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verden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.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Landene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skal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være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farvet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efter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indlæggelser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per capita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og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skraveret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efter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dødsfald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per capita (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hvis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det 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muligt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). Der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skal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være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en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periodevælger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,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hvor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der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kan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vælges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år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og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måned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.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Tallene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skal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summeres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over den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valgte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periode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. Det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skal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være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muligt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at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vælge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et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specifikt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land. Under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kortet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skal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der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være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en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graf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der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viser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indlæggelser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og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død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per capita over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tid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(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summeret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på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månedsniveau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) for det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valgte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land (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og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ellers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 for hele </a:t>
            </a:r>
            <a:r>
              <a:rPr lang="en-US" i="1" err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verden</a:t>
            </a:r>
            <a:r>
              <a:rPr lang="en-US" i="1">
                <a:solidFill>
                  <a:srgbClr val="000000"/>
                </a:solidFill>
                <a:latin typeface="Consolas"/>
                <a:ea typeface="Calibri"/>
                <a:cs typeface="Arial"/>
              </a:rPr>
              <a:t>)."</a:t>
            </a:r>
          </a:p>
          <a:p>
            <a:pPr marL="341630" indent="-341630"/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AI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kommer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med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en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plan -&gt; "Make it so!"</a:t>
            </a:r>
          </a:p>
          <a:p>
            <a:pPr marL="341630" indent="-341630"/>
            <a:endParaRPr lang="en-US">
              <a:solidFill>
                <a:srgbClr val="000000"/>
              </a:solidFill>
              <a:latin typeface="Calibri"/>
              <a:ea typeface="Calibri"/>
              <a:cs typeface="Arial"/>
            </a:endParaRPr>
          </a:p>
          <a:p>
            <a:pPr marL="341630" indent="-341630"/>
            <a:endParaRPr lang="en-US">
              <a:solidFill>
                <a:srgbClr val="000000"/>
              </a:solidFill>
              <a:latin typeface="Calibri"/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355169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6D598D-EC9D-CED8-95FB-24D961E9CBC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err="1">
                <a:ea typeface="Calibri"/>
                <a:cs typeface="Calibri"/>
              </a:rPr>
              <a:t>Streamlit</a:t>
            </a:r>
            <a:r>
              <a:rPr lang="en-US">
                <a:ea typeface="Calibri"/>
                <a:cs typeface="Calibri"/>
              </a:rPr>
              <a:t> - screenshot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C211684D-6A0E-E966-812F-EFBBEE10EA2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66079" y="1162779"/>
            <a:ext cx="6599031" cy="53360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34575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48C19A-E04E-824B-7AD8-5932A2459A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Dash - screenshot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EB8F942-FFD2-D6D7-61DF-9DDBD01E80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718649" y="1616211"/>
            <a:ext cx="9874684" cy="45127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708976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65B2E2-6118-ED96-92FD-64D0C6ED4C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Shiny – </a:t>
            </a:r>
            <a:r>
              <a:rPr lang="en-US" err="1">
                <a:ea typeface="Calibri"/>
                <a:cs typeface="Calibri"/>
              </a:rPr>
              <a:t>lignede</a:t>
            </a:r>
            <a:r>
              <a:rPr lang="en-US">
                <a:ea typeface="Calibri"/>
                <a:cs typeface="Calibri"/>
              </a:rPr>
              <a:t> </a:t>
            </a:r>
            <a:r>
              <a:rPr lang="en-US" err="1">
                <a:ea typeface="Calibri"/>
                <a:cs typeface="Calibri"/>
              </a:rPr>
              <a:t>meget</a:t>
            </a:r>
            <a:r>
              <a:rPr lang="en-US">
                <a:ea typeface="Calibri"/>
                <a:cs typeface="Calibri"/>
              </a:rPr>
              <a:t> Dash dashboardet</a:t>
            </a:r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FAA2FBFD-DA44-5B3F-C1A6-42C69D22C794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79608" y="1608862"/>
            <a:ext cx="10083451" cy="4788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8896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8391FA9-9A30-3961-1157-32B3F85068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ArcGIS – 3D scene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304EA4-3F74-DA7C-4BD6-1C56629C956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propy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-workflow, Living Atlas,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timeslider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og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3D</a:t>
            </a:r>
            <a:endParaRPr lang="en-US"/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err="1">
                <a:ea typeface="+mn-lt"/>
                <a:cs typeface="+mn-lt"/>
              </a:rPr>
              <a:t>Promptede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generering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af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en</a:t>
            </a:r>
            <a:r>
              <a:rPr lang="en-US">
                <a:ea typeface="+mn-lt"/>
                <a:cs typeface="+mn-lt"/>
              </a:rPr>
              <a:t> 3D scene. Data </a:t>
            </a:r>
            <a:r>
              <a:rPr lang="en-US" err="1">
                <a:ea typeface="+mn-lt"/>
                <a:cs typeface="+mn-lt"/>
              </a:rPr>
              <a:t>generering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fungerede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rimeligt</a:t>
            </a:r>
            <a:r>
              <a:rPr lang="en-US">
                <a:ea typeface="+mn-lt"/>
                <a:cs typeface="+mn-lt"/>
              </a:rPr>
              <a:t> (med et par </a:t>
            </a:r>
            <a:r>
              <a:rPr lang="en-US" err="1">
                <a:ea typeface="+mn-lt"/>
                <a:cs typeface="+mn-lt"/>
              </a:rPr>
              <a:t>hickups</a:t>
            </a:r>
            <a:r>
              <a:rPr lang="en-US">
                <a:ea typeface="+mn-lt"/>
                <a:cs typeface="+mn-lt"/>
              </a:rPr>
              <a:t>)</a:t>
            </a:r>
            <a:endParaRPr lang="en-US"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err="1">
                <a:ea typeface="+mn-lt"/>
                <a:cs typeface="+mn-lt"/>
              </a:rPr>
              <a:t>Svært</a:t>
            </a:r>
            <a:r>
              <a:rPr lang="en-US">
                <a:ea typeface="+mn-lt"/>
                <a:cs typeface="+mn-lt"/>
              </a:rPr>
              <a:t> at lave </a:t>
            </a:r>
            <a:r>
              <a:rPr lang="en-US" err="1">
                <a:ea typeface="+mn-lt"/>
                <a:cs typeface="+mn-lt"/>
              </a:rPr>
              <a:t>udviklingen</a:t>
            </a:r>
            <a:r>
              <a:rPr lang="en-US">
                <a:ea typeface="+mn-lt"/>
                <a:cs typeface="+mn-lt"/>
              </a:rPr>
              <a:t> med vibe coding - der er </a:t>
            </a:r>
            <a:r>
              <a:rPr lang="en-US" err="1">
                <a:ea typeface="+mn-lt"/>
                <a:cs typeface="+mn-lt"/>
              </a:rPr>
              <a:t>brug</a:t>
            </a:r>
            <a:r>
              <a:rPr lang="en-US">
                <a:ea typeface="+mn-lt"/>
                <a:cs typeface="+mn-lt"/>
              </a:rPr>
              <a:t> for at </a:t>
            </a:r>
            <a:r>
              <a:rPr lang="en-US" err="1">
                <a:ea typeface="+mn-lt"/>
                <a:cs typeface="+mn-lt"/>
              </a:rPr>
              <a:t>klikke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rundt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</a:t>
            </a:r>
            <a:r>
              <a:rPr lang="en-US">
                <a:ea typeface="+mn-lt"/>
                <a:cs typeface="+mn-lt"/>
              </a:rPr>
              <a:t> ArcGIS online</a:t>
            </a:r>
            <a:endParaRPr lang="en-US"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err="1">
                <a:ea typeface="+mn-lt"/>
                <a:cs typeface="+mn-lt"/>
              </a:rPr>
              <a:t>Resultatet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blev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ganske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godt</a:t>
            </a:r>
            <a:r>
              <a:rPr lang="en-US">
                <a:ea typeface="+mn-lt"/>
                <a:cs typeface="+mn-lt"/>
              </a:rPr>
              <a:t>, men AI "</a:t>
            </a:r>
            <a:r>
              <a:rPr lang="en-US" err="1">
                <a:ea typeface="+mn-lt"/>
                <a:cs typeface="+mn-lt"/>
              </a:rPr>
              <a:t>forstår</a:t>
            </a:r>
            <a:r>
              <a:rPr lang="en-US">
                <a:ea typeface="+mn-lt"/>
                <a:cs typeface="+mn-lt"/>
              </a:rPr>
              <a:t>" </a:t>
            </a:r>
            <a:r>
              <a:rPr lang="en-US" err="1">
                <a:ea typeface="+mn-lt"/>
                <a:cs typeface="+mn-lt"/>
              </a:rPr>
              <a:t>ikke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helt</a:t>
            </a:r>
            <a:r>
              <a:rPr lang="en-US">
                <a:ea typeface="+mn-lt"/>
                <a:cs typeface="+mn-lt"/>
              </a:rPr>
              <a:t>, </a:t>
            </a:r>
            <a:r>
              <a:rPr lang="en-US" err="1">
                <a:ea typeface="+mn-lt"/>
                <a:cs typeface="+mn-lt"/>
              </a:rPr>
              <a:t>hvad</a:t>
            </a:r>
            <a:r>
              <a:rPr lang="en-US">
                <a:ea typeface="+mn-lt"/>
                <a:cs typeface="+mn-lt"/>
              </a:rPr>
              <a:t> der </a:t>
            </a:r>
            <a:r>
              <a:rPr lang="en-US" err="1">
                <a:ea typeface="+mn-lt"/>
                <a:cs typeface="+mn-lt"/>
              </a:rPr>
              <a:t>skal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til</a:t>
            </a:r>
            <a:r>
              <a:rPr lang="en-US">
                <a:ea typeface="+mn-lt"/>
                <a:cs typeface="+mn-lt"/>
              </a:rPr>
              <a:t> for at </a:t>
            </a:r>
            <a:r>
              <a:rPr lang="en-US" err="1">
                <a:ea typeface="+mn-lt"/>
                <a:cs typeface="+mn-lt"/>
              </a:rPr>
              <a:t>få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tingene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til</a:t>
            </a:r>
            <a:r>
              <a:rPr lang="en-US">
                <a:ea typeface="+mn-lt"/>
                <a:cs typeface="+mn-lt"/>
              </a:rPr>
              <a:t> at </a:t>
            </a:r>
            <a:r>
              <a:rPr lang="en-US" err="1">
                <a:ea typeface="+mn-lt"/>
                <a:cs typeface="+mn-lt"/>
              </a:rPr>
              <a:t>fungere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i</a:t>
            </a:r>
            <a:r>
              <a:rPr lang="en-US">
                <a:ea typeface="+mn-lt"/>
                <a:cs typeface="+mn-lt"/>
              </a:rPr>
              <a:t> ArcGIS online</a:t>
            </a:r>
            <a:endParaRPr lang="en-US">
              <a:ea typeface="Calibri"/>
              <a:cs typeface="Arial" panose="020B0604020202020204" pitchFamily="34" charset="0"/>
            </a:endParaRPr>
          </a:p>
          <a:p>
            <a:pPr marL="341630" indent="-341630"/>
            <a:endParaRPr lang="en-US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1774606666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C665B3-CE2B-7F24-183B-76A9F71E25D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ArcGIS - Screenshot</a:t>
            </a:r>
            <a:endParaRPr lang="en-US"/>
          </a:p>
        </p:txBody>
      </p:sp>
      <p:pic>
        <p:nvPicPr>
          <p:cNvPr id="4" name="Content Placeholder 3">
            <a:extLst>
              <a:ext uri="{FF2B5EF4-FFF2-40B4-BE49-F238E27FC236}">
                <a16:creationId xmlns:a16="http://schemas.microsoft.com/office/drawing/2014/main" id="{0FB729A4-B7BE-A48E-58A5-C4789A37882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42655" y="1442150"/>
            <a:ext cx="9801225" cy="5208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666254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ABAEE5-8BAA-E470-6F9F-93F22CE207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>
                <a:ea typeface="Calibri"/>
                <a:cs typeface="Calibri"/>
              </a:rPr>
              <a:t>Power BI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E2E66D-4B6B-228D-D948-370EF8FDA0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/>
            <a:r>
              <a:rPr lang="en-US" err="1">
                <a:ea typeface="+mn-lt"/>
                <a:cs typeface="+mn-lt"/>
              </a:rPr>
              <a:t>Meget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friktion</a:t>
            </a:r>
            <a:endParaRPr lang="en-US" err="1">
              <a:ea typeface="Calibri"/>
            </a:endParaRPr>
          </a:p>
          <a:p>
            <a:pPr marL="341630" indent="-341630"/>
            <a:r>
              <a:rPr lang="en-US">
                <a:ea typeface="+mn-lt"/>
                <a:cs typeface="+mn-lt"/>
              </a:rPr>
              <a:t>AI </a:t>
            </a:r>
            <a:r>
              <a:rPr lang="en-US" err="1">
                <a:ea typeface="+mn-lt"/>
                <a:cs typeface="+mn-lt"/>
              </a:rPr>
              <a:t>har</a:t>
            </a:r>
            <a:r>
              <a:rPr lang="en-US">
                <a:ea typeface="+mn-lt"/>
                <a:cs typeface="+mn-lt"/>
              </a:rPr>
              <a:t> det svært med brugerflader - specielt når de ændrer sig meget over tid/versioner</a:t>
            </a:r>
            <a:endParaRPr lang="en-US"/>
          </a:p>
          <a:p>
            <a:pPr marL="341630" indent="-341630"/>
            <a:r>
              <a:rPr lang="en-US">
                <a:ea typeface="+mn-lt"/>
                <a:cs typeface="+mn-lt"/>
              </a:rPr>
              <a:t>Jeg </a:t>
            </a:r>
            <a:r>
              <a:rPr lang="en-US" err="1">
                <a:ea typeface="+mn-lt"/>
                <a:cs typeface="+mn-lt"/>
              </a:rPr>
              <a:t>opgav</a:t>
            </a:r>
            <a:r>
              <a:rPr lang="en-US">
                <a:ea typeface="+mn-lt"/>
                <a:cs typeface="+mn-lt"/>
              </a:rPr>
              <a:t> at lave et funktionelt dashboard med AI. Vibe codning var ikke mulig og prompt svar var upræcise og ikke mulige at følge i PowerBI brugerfladen </a:t>
            </a:r>
            <a:endParaRPr lang="en-US"/>
          </a:p>
          <a:p>
            <a:pPr marL="341630" indent="-341630"/>
            <a:endParaRPr lang="en-US">
              <a:ea typeface="Calibri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B349EC83-291B-6137-8B3B-7A0B32C9062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6716" y="3861539"/>
            <a:ext cx="4944650" cy="268396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688386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E66E62-10FD-1B2F-4BC2-DE7F1A0F4E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ea typeface="+mn-lt"/>
                <a:cs typeface="+mn-lt"/>
              </a:rPr>
              <a:t>Teknologierne</a:t>
            </a:r>
            <a:r>
              <a:rPr lang="en-US" dirty="0">
                <a:ea typeface="+mn-lt"/>
                <a:cs typeface="+mn-lt"/>
              </a:rPr>
              <a:t> </a:t>
            </a:r>
            <a:r>
              <a:rPr lang="en-US" dirty="0" err="1">
                <a:ea typeface="+mn-lt"/>
                <a:cs typeface="+mn-lt"/>
              </a:rPr>
              <a:t>vurderet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</a:t>
            </a:r>
            <a:r>
              <a:rPr lang="en-US" dirty="0">
                <a:ea typeface="+mn-lt"/>
                <a:cs typeface="+mn-lt"/>
              </a:rPr>
              <a:t> forhold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udvikling</a:t>
            </a:r>
            <a:r>
              <a:rPr lang="en-US" dirty="0">
                <a:ea typeface="+mn-lt"/>
                <a:cs typeface="+mn-lt"/>
              </a:rPr>
              <a:t> med AI</a:t>
            </a:r>
            <a:endParaRPr lang="en-US" dirty="0"/>
          </a:p>
          <a:p>
            <a:endParaRPr lang="en-US" dirty="0">
              <a:ea typeface="Calibri"/>
              <a:cs typeface="Calibri"/>
            </a:endParaRPr>
          </a:p>
        </p:txBody>
      </p:sp>
      <p:graphicFrame>
        <p:nvGraphicFramePr>
          <p:cNvPr id="16" name="Content Placeholder 15">
            <a:extLst>
              <a:ext uri="{FF2B5EF4-FFF2-40B4-BE49-F238E27FC236}">
                <a16:creationId xmlns:a16="http://schemas.microsoft.com/office/drawing/2014/main" id="{4C11EF40-C050-20CA-65C3-C84AB341AB42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24180817"/>
              </p:ext>
            </p:extLst>
          </p:nvPr>
        </p:nvGraphicFramePr>
        <p:xfrm>
          <a:off x="628650" y="1314450"/>
          <a:ext cx="11332619" cy="4979104"/>
        </p:xfrm>
        <a:graphic>
          <a:graphicData uri="http://schemas.openxmlformats.org/drawingml/2006/table">
            <a:tbl>
              <a:tblPr bandRow="1">
                <a:tableStyleId>{5C22544A-7EE6-4342-B048-85BDC9FD1C3A}</a:tableStyleId>
              </a:tblPr>
              <a:tblGrid>
                <a:gridCol w="1586337">
                  <a:extLst>
                    <a:ext uri="{9D8B030D-6E8A-4147-A177-3AD203B41FA5}">
                      <a16:colId xmlns:a16="http://schemas.microsoft.com/office/drawing/2014/main" val="1435873743"/>
                    </a:ext>
                  </a:extLst>
                </a:gridCol>
                <a:gridCol w="1951539">
                  <a:extLst>
                    <a:ext uri="{9D8B030D-6E8A-4147-A177-3AD203B41FA5}">
                      <a16:colId xmlns:a16="http://schemas.microsoft.com/office/drawing/2014/main" val="243850601"/>
                    </a:ext>
                  </a:extLst>
                </a:gridCol>
                <a:gridCol w="1198313">
                  <a:extLst>
                    <a:ext uri="{9D8B030D-6E8A-4147-A177-3AD203B41FA5}">
                      <a16:colId xmlns:a16="http://schemas.microsoft.com/office/drawing/2014/main" val="1013813829"/>
                    </a:ext>
                  </a:extLst>
                </a:gridCol>
                <a:gridCol w="1734701">
                  <a:extLst>
                    <a:ext uri="{9D8B030D-6E8A-4147-A177-3AD203B41FA5}">
                      <a16:colId xmlns:a16="http://schemas.microsoft.com/office/drawing/2014/main" val="3998272964"/>
                    </a:ext>
                  </a:extLst>
                </a:gridCol>
                <a:gridCol w="2681940">
                  <a:extLst>
                    <a:ext uri="{9D8B030D-6E8A-4147-A177-3AD203B41FA5}">
                      <a16:colId xmlns:a16="http://schemas.microsoft.com/office/drawing/2014/main" val="366716967"/>
                    </a:ext>
                  </a:extLst>
                </a:gridCol>
                <a:gridCol w="2179789">
                  <a:extLst>
                    <a:ext uri="{9D8B030D-6E8A-4147-A177-3AD203B41FA5}">
                      <a16:colId xmlns:a16="http://schemas.microsoft.com/office/drawing/2014/main" val="687992597"/>
                    </a:ext>
                  </a:extLst>
                </a:gridCol>
              </a:tblGrid>
              <a:tr h="2123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u="none" strike="noStrike" dirty="0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Parameter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u="none" strike="noStrike" dirty="0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Shiny (</a:t>
                      </a:r>
                      <a:r>
                        <a:rPr lang="en-US" sz="1100" b="1" u="none" strike="noStrike" dirty="0" err="1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Shinylive</a:t>
                      </a:r>
                      <a:r>
                        <a:rPr lang="en-US" sz="1100" b="1" u="none" strike="noStrike" dirty="0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/</a:t>
                      </a:r>
                      <a:r>
                        <a:rPr lang="en-US" sz="1100" b="1" u="none" strike="noStrike" dirty="0" err="1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ShinyApps</a:t>
                      </a:r>
                      <a:r>
                        <a:rPr lang="en-US" sz="1100" b="1" u="none" strike="noStrike" dirty="0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)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u="none" strike="noStrike" dirty="0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Dash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u="none" strike="noStrike" dirty="0" err="1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Streamlit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u="none" strike="noStrike" dirty="0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ArcGIS Scene / 3D Viewer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1" u="none" strike="noStrike" dirty="0">
                          <a:solidFill>
                            <a:srgbClr val="CCCCCC"/>
                          </a:solidFill>
                          <a:effectLst/>
                          <a:latin typeface="Segoe UI"/>
                        </a:rPr>
                        <a:t>Power BI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000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1005188"/>
                  </a:ext>
                </a:extLst>
              </a:tr>
              <a:tr h="79623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Opsætningshastighed</a:t>
                      </a:r>
                    </a:p>
                  </a:txBody>
                  <a:tcPr marL="0" marR="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strukturering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af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UI/server, men let CLI-deploy via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Shinylive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/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ShinyApps</a:t>
                      </a:r>
                    </a:p>
                  </a:txBody>
                  <a:tcPr marL="0" marR="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Python + layout-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komponenter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, mere boilerplate</a:t>
                      </a:r>
                    </a:p>
                  </a:txBody>
                  <a:tcPr marL="0" marR="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fremragende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enkel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st.* API,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til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prototyper</a:t>
                      </a:r>
                    </a:p>
                  </a:txBody>
                  <a:tcPr marL="0" marR="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JSON-/scene-script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skal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bruges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afhænger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af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ArcGIS-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konto</a:t>
                      </a:r>
                    </a:p>
                  </a:txBody>
                  <a:tcPr marL="0" marR="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desktop-workflow +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publicering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tager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længere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tid</a:t>
                      </a:r>
                    </a:p>
                  </a:txBody>
                  <a:tcPr marL="0" marR="0" marT="47625" marB="47625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91436396"/>
                  </a:ext>
                </a:extLst>
              </a:tr>
              <a:tr h="9873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AI-assistance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Copilot/ChatGPT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klarer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ui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, server 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plotly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-snippets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AI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genererer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callbacks/layout, men debugging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manuel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viden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fremragende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AI laver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komplette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apps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AI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kan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generere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JSON, men ArcGIS-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specifikke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felter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erfaring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AI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hjælper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med M/DAX, men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begrænset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støtte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til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visuals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19875834"/>
                  </a:ext>
                </a:extLst>
              </a:tr>
              <a:tr h="987328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Udvidelsesmuligheder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fremragende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fuld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Python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mulighed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for custom JS/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Plotly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fremragende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understøtter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custom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komponenter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API-integration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Python +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begrænset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custom JS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Scene Viewer/Instant Apps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styres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af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Esri-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skabeloner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Custom visuals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TypeScript SDK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9364612"/>
                  </a:ext>
                </a:extLst>
              </a:tr>
              <a:tr h="594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Deployment friction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Shinylive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(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statisk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)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eller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ShinyApps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(PaaS)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cloud-hosting (Fly, Render, Heroku)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fremragende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Streamlit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Cloud/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Huggingface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et par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klik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ArcGIS Online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publicering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login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Power BI Service/Premium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licenser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24908532"/>
                  </a:ext>
                </a:extLst>
              </a:tr>
              <a:tr h="4034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Performance +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datahåndtering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Pandas + caching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muligt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FastAPI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/WSGI stack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kan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skaleres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Pandas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i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runtime,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tuning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Scenen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klarer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store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datasæt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men 3D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optimering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fremragende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stærk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på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aggregeret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data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refresh-planer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45328154"/>
                  </a:ext>
                </a:extLst>
              </a:tr>
              <a:tr h="4034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Samarbejde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&amp;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kontrol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Git-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venlig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, let at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reviewe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Python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Git/CI/CD passer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til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workflow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Git + CLI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eksport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muligt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Scene JSON/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py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scripts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versioneres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, men UI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håndteres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i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webportal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mindre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god – PBIX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binær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kræver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BI-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proces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82780558"/>
                  </a:ext>
                </a:extLst>
              </a:tr>
              <a:tr h="59452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Publikumsoplevelse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Interaktivt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web-friendly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Interaktivt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, mere "app-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lignende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"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middel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Hurtig at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demonstrere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, men standard look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fremragende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Stor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"wow"-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faktor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med 3D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og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tidsstyring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god –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Kendt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BI-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oplevelse</a:t>
                      </a:r>
                      <a:r>
                        <a:rPr lang="en-US" sz="1100" b="0" u="none" strike="noStrike" dirty="0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 med </a:t>
                      </a:r>
                      <a:r>
                        <a:rPr lang="en-US" sz="1100" b="0" u="none" strike="noStrike" dirty="0" err="1">
                          <a:solidFill>
                            <a:srgbClr val="FFFFFF"/>
                          </a:solidFill>
                          <a:effectLst/>
                          <a:latin typeface="Calibri"/>
                        </a:rPr>
                        <a:t>filtre</a:t>
                      </a: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5886636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58110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21A6AD-A9BC-0936-D45C-7D48B9E5F5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er AI </a:t>
            </a:r>
            <a:r>
              <a:rPr lang="en-US" dirty="0" err="1">
                <a:ea typeface="+mn-lt"/>
                <a:cs typeface="+mn-lt"/>
              </a:rPr>
              <a:t>særligt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velegnet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?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BFCA0F-72D9-4DD4-BE8F-C167B2C452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Lyn-</a:t>
            </a:r>
            <a:r>
              <a:rPr lang="en-US" dirty="0" err="1">
                <a:ea typeface="+mn-lt"/>
                <a:cs typeface="+mn-lt"/>
              </a:rPr>
              <a:t>prototyper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idé-afprøvning</a:t>
            </a:r>
            <a:endParaRPr lang="en-US" dirty="0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>
                <a:ea typeface="+mn-lt"/>
                <a:cs typeface="+mn-lt"/>
              </a:rPr>
              <a:t>Review/</a:t>
            </a:r>
            <a:r>
              <a:rPr lang="en-US" err="1">
                <a:ea typeface="+mn-lt"/>
                <a:cs typeface="+mn-lt"/>
              </a:rPr>
              <a:t>korrektur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og</a:t>
            </a:r>
            <a:r>
              <a:rPr lang="en-US">
                <a:ea typeface="+mn-lt"/>
                <a:cs typeface="+mn-lt"/>
              </a:rPr>
              <a:t> </a:t>
            </a:r>
            <a:r>
              <a:rPr lang="en-US" err="1">
                <a:ea typeface="+mn-lt"/>
                <a:cs typeface="+mn-lt"/>
              </a:rPr>
              <a:t>dokumentation</a:t>
            </a:r>
            <a:endParaRPr lang="en-US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err="1">
                <a:ea typeface="+mn-lt"/>
                <a:cs typeface="+mn-lt"/>
              </a:rPr>
              <a:t>Teknologier</a:t>
            </a:r>
            <a:r>
              <a:rPr lang="en-US">
                <a:ea typeface="+mn-lt"/>
                <a:cs typeface="+mn-lt"/>
              </a:rPr>
              <a:t> med </a:t>
            </a:r>
            <a:r>
              <a:rPr lang="en-US" err="1">
                <a:ea typeface="+mn-lt"/>
                <a:cs typeface="+mn-lt"/>
              </a:rPr>
              <a:t>stor</a:t>
            </a:r>
            <a:r>
              <a:rPr lang="en-US">
                <a:ea typeface="+mn-lt"/>
                <a:cs typeface="+mn-lt"/>
              </a:rPr>
              <a:t> community-</a:t>
            </a:r>
            <a:r>
              <a:rPr lang="en-US" err="1">
                <a:ea typeface="+mn-lt"/>
                <a:cs typeface="+mn-lt"/>
              </a:rPr>
              <a:t>hjælp</a:t>
            </a:r>
            <a:endParaRPr lang="en-US" err="1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ea typeface="+mn-lt"/>
                <a:cs typeface="+mn-lt"/>
              </a:rPr>
              <a:t>Workflows, der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scriptes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automatiseres</a:t>
            </a:r>
            <a:endParaRPr lang="en-US" dirty="0" err="1">
              <a:ea typeface="Calibri"/>
            </a:endParaRPr>
          </a:p>
          <a:p>
            <a:pPr marL="341630" indent="-341630"/>
            <a:endParaRPr lang="en-US" dirty="0">
              <a:ea typeface="Calibri"/>
            </a:endParaRPr>
          </a:p>
        </p:txBody>
      </p:sp>
    </p:spTree>
    <p:extLst>
      <p:ext uri="{BB962C8B-B14F-4D97-AF65-F5344CB8AC3E}">
        <p14:creationId xmlns:p14="http://schemas.microsoft.com/office/powerpoint/2010/main" val="428448200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FA59E6-2A80-C173-A702-A735B5F289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err="1">
                <a:latin typeface="Calibri"/>
                <a:ea typeface="Calibri"/>
                <a:cs typeface="Calibri"/>
              </a:rPr>
              <a:t>Overvejelser</a:t>
            </a:r>
            <a:r>
              <a:rPr lang="en-US">
                <a:latin typeface="Calibri"/>
                <a:ea typeface="Calibri"/>
                <a:cs typeface="Calibri"/>
              </a:rPr>
              <a:t> om </a:t>
            </a:r>
            <a:r>
              <a:rPr lang="en-US" err="1">
                <a:latin typeface="Calibri"/>
                <a:ea typeface="Calibri"/>
                <a:cs typeface="Calibri"/>
              </a:rPr>
              <a:t>sikkerhed</a:t>
            </a:r>
            <a:endParaRPr lang="en-US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BD7CE40-B231-3BF6-7999-543EEEA5CD6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err="1">
                <a:ea typeface="+mn-lt"/>
                <a:cs typeface="+mn-lt"/>
              </a:rPr>
              <a:t>Må</a:t>
            </a:r>
            <a:r>
              <a:rPr lang="en-US">
                <a:ea typeface="+mn-lt"/>
                <a:cs typeface="+mn-lt"/>
              </a:rPr>
              <a:t> du </a:t>
            </a:r>
            <a:r>
              <a:rPr lang="en-US" err="1">
                <a:ea typeface="+mn-lt"/>
                <a:cs typeface="+mn-lt"/>
              </a:rPr>
              <a:t>bruge</a:t>
            </a:r>
            <a:r>
              <a:rPr lang="en-US">
                <a:ea typeface="+mn-lt"/>
                <a:cs typeface="+mn-lt"/>
              </a:rPr>
              <a:t> AI på arbejdet? Hvad siger politikkerne?</a:t>
            </a:r>
            <a:endParaRPr lang="en-US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>
                <a:ea typeface="+mn-lt"/>
                <a:cs typeface="+mn-lt"/>
              </a:rPr>
              <a:t>Vibe coding vs. AI-assisteret udvikling ift. compliance og logging</a:t>
            </a:r>
            <a:endParaRPr lang="en-US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err="1">
                <a:ea typeface="+mn-lt"/>
                <a:cs typeface="+mn-lt"/>
              </a:rPr>
              <a:t>Datafølsomhed</a:t>
            </a:r>
            <a:r>
              <a:rPr lang="en-US">
                <a:ea typeface="+mn-lt"/>
                <a:cs typeface="+mn-lt"/>
              </a:rPr>
              <a:t> </a:t>
            </a:r>
            <a:endParaRPr lang="en-US"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Mit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råd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: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brug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aldrig persondata - brug kunstig eller offentlig tilgængeligt data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Hvis</a:t>
            </a:r>
            <a:r>
              <a:rPr lang="en-US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der er brug for rigtig data, så gør det manuelt, når løsningen skal i drift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buFont typeface="Courier New" panose="020B0604020202020204" pitchFamily="34" charset="0"/>
              <a:buChar char="o"/>
            </a:pPr>
            <a:endParaRPr lang="en-US" dirty="0"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31431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2CEFFC-ABD3-65DF-F3EA-D9B74FF7B0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Tips </a:t>
            </a:r>
            <a:r>
              <a:rPr lang="en-US" dirty="0" err="1">
                <a:latin typeface="Calibri"/>
                <a:ea typeface="Calibri"/>
                <a:cs typeface="Calibri"/>
              </a:rPr>
              <a:t>til</a:t>
            </a:r>
            <a:r>
              <a:rPr lang="en-US" dirty="0">
                <a:latin typeface="Calibri"/>
                <a:ea typeface="Calibri"/>
                <a:cs typeface="Calibri"/>
              </a:rPr>
              <a:t> at </a:t>
            </a:r>
            <a:r>
              <a:rPr lang="en-US" dirty="0" err="1">
                <a:latin typeface="Calibri"/>
                <a:ea typeface="Calibri"/>
                <a:cs typeface="Calibri"/>
              </a:rPr>
              <a:t>bruge</a:t>
            </a:r>
            <a:r>
              <a:rPr lang="en-US" dirty="0">
                <a:latin typeface="Calibri"/>
                <a:ea typeface="Calibri"/>
                <a:cs typeface="Calibri"/>
              </a:rPr>
              <a:t> AI </a:t>
            </a:r>
            <a:r>
              <a:rPr lang="en-US" dirty="0" err="1">
                <a:latin typeface="Calibri"/>
                <a:ea typeface="Calibri"/>
                <a:cs typeface="Calibri"/>
              </a:rPr>
              <a:t>effektivt</a:t>
            </a:r>
            <a:endParaRPr lang="en-US" dirty="0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A6E8C7-9A5A-94D4-C2A9-2F287A85C9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9999" y="1255127"/>
            <a:ext cx="11103711" cy="5058750"/>
          </a:xfrm>
        </p:spPr>
        <p:txBody>
          <a:bodyPr>
            <a:normAutofit/>
          </a:bodyPr>
          <a:lstStyle/>
          <a:p>
            <a:pPr marL="341630" indent="-341630"/>
            <a:r>
              <a:rPr lang="en-US" dirty="0" err="1">
                <a:ea typeface="+mn-lt"/>
                <a:cs typeface="+mn-lt"/>
              </a:rPr>
              <a:t>Når</a:t>
            </a:r>
            <a:r>
              <a:rPr lang="en-US" dirty="0">
                <a:ea typeface="+mn-lt"/>
                <a:cs typeface="+mn-lt"/>
              </a:rPr>
              <a:t> du vibe coder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fejl</a:t>
            </a:r>
            <a:r>
              <a:rPr lang="en-US" dirty="0">
                <a:ea typeface="+mn-lt"/>
                <a:cs typeface="+mn-lt"/>
              </a:rPr>
              <a:t>: prompt AI med </a:t>
            </a:r>
            <a:r>
              <a:rPr lang="en-US" dirty="0" err="1">
                <a:ea typeface="+mn-lt"/>
                <a:cs typeface="+mn-lt"/>
              </a:rPr>
              <a:t>fejlen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kontekst</a:t>
            </a:r>
            <a:r>
              <a:rPr lang="en-US" dirty="0">
                <a:ea typeface="+mn-lt"/>
                <a:cs typeface="+mn-lt"/>
              </a:rPr>
              <a:t> (log,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forventer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rent </a:t>
            </a:r>
            <a:r>
              <a:rPr lang="en-US" dirty="0" err="1">
                <a:ea typeface="+mn-lt"/>
                <a:cs typeface="+mn-lt"/>
              </a:rPr>
              <a:t>faktisk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fik</a:t>
            </a:r>
            <a:r>
              <a:rPr lang="en-US" dirty="0">
                <a:ea typeface="+mn-lt"/>
                <a:cs typeface="+mn-lt"/>
              </a:rPr>
              <a:t>)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bed den </a:t>
            </a:r>
            <a:r>
              <a:rPr lang="en-US" dirty="0" err="1">
                <a:ea typeface="+mn-lt"/>
                <a:cs typeface="+mn-lt"/>
              </a:rPr>
              <a:t>rette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fejlen</a:t>
            </a:r>
            <a:endParaRPr lang="en-US" dirty="0" err="1">
              <a:ea typeface="Calibri"/>
            </a:endParaRPr>
          </a:p>
          <a:p>
            <a:pPr marL="341630" indent="-341630"/>
            <a:r>
              <a:rPr lang="en-US" dirty="0">
                <a:ea typeface="+mn-lt"/>
                <a:cs typeface="+mn-lt"/>
              </a:rPr>
              <a:t>Giv </a:t>
            </a:r>
            <a:r>
              <a:rPr lang="en-US" dirty="0" err="1">
                <a:ea typeface="+mn-lt"/>
                <a:cs typeface="+mn-lt"/>
              </a:rPr>
              <a:t>noget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kontekst</a:t>
            </a:r>
            <a:r>
              <a:rPr lang="en-US" dirty="0">
                <a:ea typeface="+mn-lt"/>
                <a:cs typeface="+mn-lt"/>
              </a:rPr>
              <a:t> – </a:t>
            </a:r>
            <a:r>
              <a:rPr lang="en-US" dirty="0" err="1">
                <a:ea typeface="+mn-lt"/>
                <a:cs typeface="+mn-lt"/>
              </a:rPr>
              <a:t>så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får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bedre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svar</a:t>
            </a:r>
            <a:endParaRPr lang="en-US" dirty="0" err="1"/>
          </a:p>
          <a:p>
            <a:pPr marL="341630" indent="-341630"/>
            <a:r>
              <a:rPr lang="en-US" dirty="0">
                <a:ea typeface="+mn-lt"/>
                <a:cs typeface="+mn-lt"/>
              </a:rPr>
              <a:t>Bed </a:t>
            </a:r>
            <a:r>
              <a:rPr lang="en-US" dirty="0" err="1">
                <a:ea typeface="+mn-lt"/>
                <a:cs typeface="+mn-lt"/>
              </a:rPr>
              <a:t>AI’en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stille</a:t>
            </a:r>
            <a:r>
              <a:rPr lang="en-US" dirty="0">
                <a:ea typeface="+mn-lt"/>
                <a:cs typeface="+mn-lt"/>
              </a:rPr>
              <a:t> dig </a:t>
            </a:r>
            <a:r>
              <a:rPr lang="en-US" dirty="0" err="1">
                <a:ea typeface="+mn-lt"/>
                <a:cs typeface="+mn-lt"/>
              </a:rPr>
              <a:t>spørgsmål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før</a:t>
            </a:r>
            <a:r>
              <a:rPr lang="en-US" dirty="0">
                <a:ea typeface="+mn-lt"/>
                <a:cs typeface="+mn-lt"/>
              </a:rPr>
              <a:t> den </a:t>
            </a:r>
            <a:r>
              <a:rPr lang="en-US" dirty="0" err="1">
                <a:ea typeface="+mn-lt"/>
                <a:cs typeface="+mn-lt"/>
              </a:rPr>
              <a:t>forelår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løsningen</a:t>
            </a:r>
            <a:endParaRPr lang="en-US" dirty="0" err="1"/>
          </a:p>
          <a:p>
            <a:pPr marL="341630" indent="-341630"/>
            <a:r>
              <a:rPr lang="en-US" dirty="0">
                <a:ea typeface="+mn-lt"/>
                <a:cs typeface="+mn-lt"/>
              </a:rPr>
              <a:t>Bed om </a:t>
            </a:r>
            <a:r>
              <a:rPr lang="en-US" dirty="0" err="1">
                <a:ea typeface="+mn-lt"/>
                <a:cs typeface="+mn-lt"/>
              </a:rPr>
              <a:t>flere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mulige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løsninger</a:t>
            </a:r>
            <a:r>
              <a:rPr lang="en-US" dirty="0">
                <a:ea typeface="+mn-lt"/>
                <a:cs typeface="+mn-lt"/>
              </a:rPr>
              <a:t> med for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imod</a:t>
            </a:r>
            <a:endParaRPr lang="en-US" dirty="0" err="1"/>
          </a:p>
          <a:p>
            <a:pPr marL="341630" indent="-341630"/>
            <a:r>
              <a:rPr lang="en-US" dirty="0">
                <a:ea typeface="+mn-lt"/>
                <a:cs typeface="+mn-lt"/>
              </a:rPr>
              <a:t>Log dine prompts (prompts.md)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gem hits </a:t>
            </a:r>
            <a:r>
              <a:rPr lang="en-US" dirty="0" err="1">
                <a:ea typeface="+mn-lt"/>
                <a:cs typeface="+mn-lt"/>
              </a:rPr>
              <a:t>som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skabeloner</a:t>
            </a:r>
            <a:endParaRPr lang="en-US" dirty="0" err="1"/>
          </a:p>
          <a:p>
            <a:pPr marL="341630" indent="-341630"/>
            <a:r>
              <a:rPr lang="en-US" dirty="0" err="1">
                <a:ea typeface="+mn-lt"/>
                <a:cs typeface="+mn-lt"/>
              </a:rPr>
              <a:t>Hav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noget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arbejde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kan</a:t>
            </a:r>
            <a:r>
              <a:rPr lang="en-US" dirty="0">
                <a:ea typeface="+mn-lt"/>
                <a:cs typeface="+mn-lt"/>
              </a:rPr>
              <a:t> laves </a:t>
            </a:r>
            <a:r>
              <a:rPr lang="en-US" dirty="0" err="1">
                <a:ea typeface="+mn-lt"/>
                <a:cs typeface="+mn-lt"/>
              </a:rPr>
              <a:t>mens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AI'en</a:t>
            </a:r>
            <a:r>
              <a:rPr lang="en-US" dirty="0">
                <a:ea typeface="+mn-lt"/>
                <a:cs typeface="+mn-lt"/>
              </a:rPr>
              <a:t> "</a:t>
            </a:r>
            <a:r>
              <a:rPr lang="en-US" dirty="0" err="1">
                <a:ea typeface="+mn-lt"/>
                <a:cs typeface="+mn-lt"/>
              </a:rPr>
              <a:t>tænker</a:t>
            </a:r>
            <a:r>
              <a:rPr lang="en-US" dirty="0">
                <a:ea typeface="+mn-lt"/>
                <a:cs typeface="+mn-lt"/>
              </a:rPr>
              <a:t>". Nogle </a:t>
            </a:r>
            <a:r>
              <a:rPr lang="en-US" dirty="0" err="1">
                <a:ea typeface="+mn-lt"/>
                <a:cs typeface="+mn-lt"/>
              </a:rPr>
              <a:t>opgaver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tager</a:t>
            </a:r>
            <a:r>
              <a:rPr lang="en-US" dirty="0">
                <a:ea typeface="+mn-lt"/>
                <a:cs typeface="+mn-lt"/>
              </a:rPr>
              <a:t> lang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.</a:t>
            </a:r>
            <a:endParaRPr lang="en-US" dirty="0"/>
          </a:p>
          <a:p>
            <a:pPr marL="341630" indent="-341630"/>
            <a:r>
              <a:rPr lang="en-US" dirty="0" err="1">
                <a:ea typeface="+mn-lt"/>
                <a:cs typeface="+mn-lt"/>
              </a:rPr>
              <a:t>Hvis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ved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hvad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skal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gøre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og</a:t>
            </a:r>
            <a:r>
              <a:rPr lang="en-US" dirty="0">
                <a:ea typeface="+mn-lt"/>
                <a:cs typeface="+mn-lt"/>
              </a:rPr>
              <a:t> det 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tager</a:t>
            </a:r>
            <a:r>
              <a:rPr lang="en-US" dirty="0">
                <a:ea typeface="+mn-lt"/>
                <a:cs typeface="+mn-lt"/>
              </a:rPr>
              <a:t> lang </a:t>
            </a:r>
            <a:r>
              <a:rPr lang="en-US" dirty="0" err="1">
                <a:ea typeface="+mn-lt"/>
                <a:cs typeface="+mn-lt"/>
              </a:rPr>
              <a:t>tid</a:t>
            </a:r>
            <a:r>
              <a:rPr lang="en-US" dirty="0">
                <a:ea typeface="+mn-lt"/>
                <a:cs typeface="+mn-lt"/>
              </a:rPr>
              <a:t>, </a:t>
            </a:r>
            <a:r>
              <a:rPr lang="en-US" dirty="0" err="1">
                <a:ea typeface="+mn-lt"/>
                <a:cs typeface="+mn-lt"/>
              </a:rPr>
              <a:t>så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gør</a:t>
            </a:r>
            <a:r>
              <a:rPr lang="en-US" dirty="0">
                <a:ea typeface="+mn-lt"/>
                <a:cs typeface="+mn-lt"/>
              </a:rPr>
              <a:t> det </a:t>
            </a:r>
            <a:r>
              <a:rPr lang="en-US" dirty="0" err="1">
                <a:ea typeface="+mn-lt"/>
                <a:cs typeface="+mn-lt"/>
              </a:rPr>
              <a:t>selv</a:t>
            </a:r>
            <a:endParaRPr lang="en-US" dirty="0" err="1"/>
          </a:p>
          <a:p>
            <a:pPr marL="341630" indent="-341630"/>
            <a:r>
              <a:rPr lang="en-US" dirty="0" err="1">
                <a:ea typeface="+mn-lt"/>
                <a:cs typeface="+mn-lt"/>
              </a:rPr>
              <a:t>Konkrete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råd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at </a:t>
            </a:r>
            <a:r>
              <a:rPr lang="en-US" dirty="0" err="1">
                <a:ea typeface="+mn-lt"/>
                <a:cs typeface="+mn-lt"/>
              </a:rPr>
              <a:t>prøve</a:t>
            </a:r>
            <a:r>
              <a:rPr lang="en-US" dirty="0">
                <a:ea typeface="+mn-lt"/>
                <a:cs typeface="+mn-lt"/>
              </a:rPr>
              <a:t> vibe coding </a:t>
            </a:r>
            <a:r>
              <a:rPr lang="en-US" dirty="0" err="1">
                <a:ea typeface="+mn-lt"/>
                <a:cs typeface="+mn-lt"/>
              </a:rPr>
              <a:t>på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dit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eget</a:t>
            </a:r>
            <a:r>
              <a:rPr lang="en-US" dirty="0">
                <a:ea typeface="+mn-lt"/>
                <a:cs typeface="+mn-lt"/>
              </a:rPr>
              <a:t> dashboard</a:t>
            </a:r>
            <a:endParaRPr lang="en-US" dirty="0"/>
          </a:p>
          <a:p>
            <a:pPr marL="683895" indent="-341630"/>
            <a:r>
              <a:rPr lang="en-US" dirty="0" err="1">
                <a:ea typeface="+mn-lt"/>
                <a:cs typeface="+mn-lt"/>
              </a:rPr>
              <a:t>lav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agents.md (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find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på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nettet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eller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få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hjælp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af</a:t>
            </a:r>
            <a:r>
              <a:rPr lang="en-US" dirty="0">
                <a:ea typeface="+mn-lt"/>
                <a:cs typeface="+mn-lt"/>
              </a:rPr>
              <a:t> AI </a:t>
            </a:r>
            <a:r>
              <a:rPr lang="en-US" dirty="0" err="1">
                <a:ea typeface="+mn-lt"/>
                <a:cs typeface="+mn-lt"/>
              </a:rPr>
              <a:t>til</a:t>
            </a:r>
            <a:r>
              <a:rPr lang="en-US" dirty="0">
                <a:ea typeface="+mn-lt"/>
                <a:cs typeface="+mn-lt"/>
              </a:rPr>
              <a:t> at lave den)</a:t>
            </a:r>
            <a:endParaRPr lang="en-US" dirty="0">
              <a:ea typeface="Calibri"/>
            </a:endParaRPr>
          </a:p>
          <a:p>
            <a:pPr marL="683895" lvl="1" indent="-341630"/>
            <a:r>
              <a:rPr lang="en-US" dirty="0" err="1">
                <a:ea typeface="+mn-lt"/>
                <a:cs typeface="+mn-lt"/>
              </a:rPr>
              <a:t>vælg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en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teknologi</a:t>
            </a:r>
            <a:r>
              <a:rPr lang="en-US" dirty="0">
                <a:ea typeface="+mn-lt"/>
                <a:cs typeface="+mn-lt"/>
              </a:rPr>
              <a:t>, der </a:t>
            </a:r>
            <a:r>
              <a:rPr lang="en-US" dirty="0" err="1">
                <a:ea typeface="+mn-lt"/>
                <a:cs typeface="+mn-lt"/>
              </a:rPr>
              <a:t>bliver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brugt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af</a:t>
            </a:r>
            <a:r>
              <a:rPr lang="en-US" dirty="0">
                <a:ea typeface="+mn-lt"/>
                <a:cs typeface="+mn-lt"/>
              </a:rPr>
              <a:t> mange</a:t>
            </a:r>
            <a:endParaRPr lang="en-US" dirty="0"/>
          </a:p>
          <a:p>
            <a:pPr marL="683895" lvl="1" indent="-341630"/>
            <a:r>
              <a:rPr lang="en-US" dirty="0" err="1">
                <a:ea typeface="+mn-lt"/>
                <a:cs typeface="+mn-lt"/>
              </a:rPr>
              <a:t>vælg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metode</a:t>
            </a:r>
            <a:r>
              <a:rPr lang="en-US" dirty="0">
                <a:ea typeface="+mn-lt"/>
                <a:cs typeface="+mn-lt"/>
              </a:rPr>
              <a:t>/</a:t>
            </a:r>
            <a:r>
              <a:rPr lang="en-US" dirty="0" err="1">
                <a:ea typeface="+mn-lt"/>
                <a:cs typeface="+mn-lt"/>
              </a:rPr>
              <a:t>teknologi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som</a:t>
            </a:r>
            <a:r>
              <a:rPr lang="en-US" dirty="0">
                <a:ea typeface="+mn-lt"/>
                <a:cs typeface="+mn-lt"/>
              </a:rPr>
              <a:t> du </a:t>
            </a:r>
            <a:r>
              <a:rPr lang="en-US" dirty="0" err="1">
                <a:ea typeface="+mn-lt"/>
                <a:cs typeface="+mn-lt"/>
              </a:rPr>
              <a:t>selv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forstår</a:t>
            </a:r>
            <a:r>
              <a:rPr lang="en-US" dirty="0">
                <a:ea typeface="+mn-lt"/>
                <a:cs typeface="+mn-lt"/>
              </a:rPr>
              <a:t> (</a:t>
            </a:r>
            <a:r>
              <a:rPr lang="en-US" dirty="0" err="1">
                <a:ea typeface="+mn-lt"/>
                <a:cs typeface="+mn-lt"/>
              </a:rPr>
              <a:t>ikke</a:t>
            </a:r>
            <a:r>
              <a:rPr lang="en-US" dirty="0">
                <a:ea typeface="+mn-lt"/>
                <a:cs typeface="+mn-lt"/>
              </a:rPr>
              <a:t> et must, men det </a:t>
            </a:r>
            <a:r>
              <a:rPr lang="en-US" dirty="0" err="1">
                <a:ea typeface="+mn-lt"/>
                <a:cs typeface="+mn-lt"/>
              </a:rPr>
              <a:t>gør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alting</a:t>
            </a:r>
            <a:r>
              <a:rPr lang="en-US" dirty="0">
                <a:ea typeface="+mn-lt"/>
                <a:cs typeface="+mn-lt"/>
              </a:rPr>
              <a:t> </a:t>
            </a:r>
            <a:r>
              <a:rPr lang="en-US" dirty="0" err="1">
                <a:ea typeface="+mn-lt"/>
                <a:cs typeface="+mn-lt"/>
              </a:rPr>
              <a:t>nemmere</a:t>
            </a:r>
            <a:r>
              <a:rPr lang="en-US" dirty="0">
                <a:ea typeface="+mn-lt"/>
                <a:cs typeface="+mn-lt"/>
              </a:rPr>
              <a:t>)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8858311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576C58-EBB9-6BFD-5DA6-4C081498E5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vert="horz" lIns="0" tIns="0" rIns="0" bIns="0" rtlCol="0" anchor="t" anchorCtr="0">
            <a:noAutofit/>
          </a:bodyPr>
          <a:lstStyle/>
          <a:p>
            <a:r>
              <a:rPr lang="en-US" dirty="0">
                <a:latin typeface="Calibri"/>
                <a:ea typeface="Calibri"/>
                <a:cs typeface="Calibri"/>
              </a:rPr>
              <a:t>AI er </a:t>
            </a:r>
            <a:r>
              <a:rPr lang="en-US" dirty="0" err="1">
                <a:latin typeface="Calibri"/>
                <a:ea typeface="Calibri"/>
                <a:cs typeface="Calibri"/>
              </a:rPr>
              <a:t>magisk</a:t>
            </a:r>
            <a:r>
              <a:rPr lang="en-US" dirty="0">
                <a:latin typeface="Calibri"/>
                <a:ea typeface="Calibri"/>
                <a:cs typeface="Calibri"/>
              </a:rPr>
              <a:t> </a:t>
            </a:r>
            <a:r>
              <a:rPr lang="en-US" dirty="0" err="1">
                <a:latin typeface="Calibri"/>
                <a:ea typeface="Calibri"/>
                <a:cs typeface="Calibri"/>
              </a:rPr>
              <a:t>makker</a:t>
            </a:r>
            <a:r>
              <a:rPr lang="en-US" dirty="0">
                <a:latin typeface="Calibri"/>
                <a:ea typeface="Calibri"/>
                <a:cs typeface="Calibri"/>
              </a:rPr>
              <a:t>, </a:t>
            </a:r>
            <a:r>
              <a:rPr lang="en-US" dirty="0" err="1">
                <a:latin typeface="Calibri"/>
                <a:ea typeface="Calibri"/>
                <a:cs typeface="Calibri"/>
              </a:rPr>
              <a:t>når</a:t>
            </a:r>
            <a:r>
              <a:rPr lang="en-US" dirty="0">
                <a:latin typeface="Calibri"/>
                <a:ea typeface="Calibri"/>
                <a:cs typeface="Calibri"/>
              </a:rPr>
              <a:t> man </a:t>
            </a:r>
            <a:r>
              <a:rPr lang="en-US" dirty="0" err="1">
                <a:latin typeface="Calibri"/>
                <a:ea typeface="Calibri"/>
                <a:cs typeface="Calibri"/>
              </a:rPr>
              <a:t>bruger</a:t>
            </a:r>
            <a:r>
              <a:rPr lang="en-US" dirty="0">
                <a:latin typeface="Calibri"/>
                <a:ea typeface="Calibri"/>
                <a:cs typeface="Calibri"/>
              </a:rPr>
              <a:t> den </a:t>
            </a:r>
            <a:r>
              <a:rPr lang="en-US" dirty="0" err="1">
                <a:latin typeface="Calibri"/>
                <a:ea typeface="Calibri"/>
                <a:cs typeface="Calibri"/>
              </a:rPr>
              <a:t>rigtigt</a:t>
            </a:r>
            <a:endParaRPr lang="en-US" dirty="0" err="1"/>
          </a:p>
          <a:p>
            <a:endParaRPr lang="en-US" dirty="0">
              <a:ea typeface="Calibri"/>
              <a:cs typeface="Calibri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9AED59-9161-90EB-14FE-F7A3FCB4AD9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341630" indent="-341630">
              <a:lnSpc>
                <a:spcPct val="150000"/>
              </a:lnSpc>
            </a:pPr>
            <a:r>
              <a:rPr lang="en-US" err="1">
                <a:ea typeface="Calibri"/>
                <a:cs typeface="Arial"/>
              </a:rPr>
              <a:t>Spørgsmål</a:t>
            </a:r>
            <a:r>
              <a:rPr lang="en-US" dirty="0">
                <a:ea typeface="Calibri"/>
                <a:cs typeface="Arial"/>
              </a:rPr>
              <a:t>?</a:t>
            </a:r>
            <a:endParaRPr lang="en-US" dirty="0">
              <a:ea typeface="Calibri"/>
            </a:endParaRPr>
          </a:p>
          <a:p>
            <a:pPr marL="341630" indent="-341630">
              <a:lnSpc>
                <a:spcPct val="150000"/>
              </a:lnSpc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Link </a:t>
            </a:r>
            <a:r>
              <a:rPr lang="en-US" err="1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til</a:t>
            </a: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 "alt": </a:t>
            </a:r>
            <a:endParaRPr lang="en-US" dirty="0">
              <a:solidFill>
                <a:srgbClr val="000000"/>
              </a:solidFill>
              <a:latin typeface="Calibri"/>
              <a:ea typeface="Calibri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https://github.com/steenhulthin/vibe-coding-kortdage-2025 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  <a:p>
            <a:pPr marL="683895" lvl="1" indent="-341630">
              <a:lnSpc>
                <a:spcPct val="150000"/>
              </a:lnSpc>
              <a:buFont typeface="Courier New" panose="020B0604020202020204" pitchFamily="34" charset="0"/>
              <a:buChar char="o"/>
            </a:pPr>
            <a:r>
              <a:rPr lang="en-US" dirty="0">
                <a:solidFill>
                  <a:srgbClr val="000000"/>
                </a:solidFill>
                <a:latin typeface="Calibri"/>
                <a:ea typeface="Calibri"/>
                <a:cs typeface="Arial"/>
              </a:rPr>
              <a:t>https://steenhulthin.github.io/vibe-coding-kortdage-2025/ </a:t>
            </a:r>
            <a:endParaRPr lang="en-US" dirty="0">
              <a:solidFill>
                <a:srgbClr val="000000"/>
              </a:solidFill>
              <a:latin typeface="Calibri"/>
              <a:ea typeface="Calibri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313908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el 4">
            <a:extLst>
              <a:ext uri="{FF2B5EF4-FFF2-40B4-BE49-F238E27FC236}">
                <a16:creationId xmlns:a16="http://schemas.microsoft.com/office/drawing/2014/main" id="{B0ED6A96-D26D-5B52-20A4-E15DAA4CF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a-DK"/>
              <a:t>Tak for jeres tid</a:t>
            </a:r>
          </a:p>
        </p:txBody>
      </p:sp>
      <p:sp>
        <p:nvSpPr>
          <p:cNvPr id="3" name="Pladsholder til billede 2">
            <a:extLst>
              <a:ext uri="{FF2B5EF4-FFF2-40B4-BE49-F238E27FC236}">
                <a16:creationId xmlns:a16="http://schemas.microsoft.com/office/drawing/2014/main" id="{18AA5EB5-A014-9D87-EAF5-C844C624705A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/>
      </p:sp>
    </p:spTree>
    <p:extLst>
      <p:ext uri="{BB962C8B-B14F-4D97-AF65-F5344CB8AC3E}">
        <p14:creationId xmlns:p14="http://schemas.microsoft.com/office/powerpoint/2010/main" val="587450006"/>
      </p:ext>
    </p:extLst>
  </p:cSld>
  <p:clrMapOvr>
    <a:masterClrMapping/>
  </p:clrMapOvr>
</p:sld>
</file>

<file path=ppt/theme/theme1.xml><?xml version="1.0" encoding="utf-8"?>
<a:theme xmlns:a="http://schemas.openxmlformats.org/drawingml/2006/main" name="SSI">
  <a:themeElements>
    <a:clrScheme name="SSI farver">
      <a:dk1>
        <a:sysClr val="windowText" lastClr="000000"/>
      </a:dk1>
      <a:lt1>
        <a:sysClr val="window" lastClr="FFFFFF"/>
      </a:lt1>
      <a:dk2>
        <a:srgbClr val="112048"/>
      </a:dk2>
      <a:lt2>
        <a:srgbClr val="541A23"/>
      </a:lt2>
      <a:accent1>
        <a:srgbClr val="B51412"/>
      </a:accent1>
      <a:accent2>
        <a:srgbClr val="DA7B27"/>
      </a:accent2>
      <a:accent3>
        <a:srgbClr val="7B8691"/>
      </a:accent3>
      <a:accent4>
        <a:srgbClr val="367F68"/>
      </a:accent4>
      <a:accent5>
        <a:srgbClr val="8092C6"/>
      </a:accent5>
      <a:accent6>
        <a:srgbClr val="3C6088"/>
      </a:accent6>
      <a:hlink>
        <a:srgbClr val="000000"/>
      </a:hlink>
      <a:folHlink>
        <a:srgbClr val="000000"/>
      </a:folHlink>
    </a:clrScheme>
    <a:fontScheme name="SSI font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SI_PowerPoint præsentation.potx" id="{74BA80A9-2F53-4B0F-8921-B3BE24D74B3B}" vid="{0358DCEB-EAEA-4474-88A1-DA99D19F9F3A}"/>
    </a:ext>
  </a:extLst>
</a:theme>
</file>

<file path=ppt/theme/theme2.xml><?xml version="1.0" encoding="utf-8"?>
<a:theme xmlns:a="http://schemas.openxmlformats.org/drawingml/2006/main" name="Office-tema">
  <a:themeElements>
    <a:clrScheme name="Kontor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Kontor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Kontor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7701BA1634B2B04D8AB99B32221FEA66" ma:contentTypeVersion="20" ma:contentTypeDescription="Opret et nyt dokument." ma:contentTypeScope="" ma:versionID="6bc72618500a8a6efef4e15fe3458a19">
  <xsd:schema xmlns:xsd="http://www.w3.org/2001/XMLSchema" xmlns:xs="http://www.w3.org/2001/XMLSchema" xmlns:p="http://schemas.microsoft.com/office/2006/metadata/properties" xmlns:ns2="12ff74cc-9611-4422-8f5f-2fd59a0d1353" xmlns:ns3="eee2f643-61f1-4bc5-bd2f-0ddea5310e08" targetNamespace="http://schemas.microsoft.com/office/2006/metadata/properties" ma:root="true" ma:fieldsID="fb24fa6afb0e51ed4580ee901350a5d1" ns2:_="" ns3:_="">
    <xsd:import namespace="12ff74cc-9611-4422-8f5f-2fd59a0d1353"/>
    <xsd:import namespace="eee2f643-61f1-4bc5-bd2f-0ddea5310e08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_Flow_SignoffStatus" minOccurs="0"/>
                <xsd:element ref="ns2:MedCom" minOccurs="0"/>
                <xsd:element ref="ns2:MediaServiceObjectDetectorVersions" minOccurs="0"/>
                <xsd:element ref="ns2:MediaServiceSearchProperties" minOccurs="0"/>
                <xsd:element ref="ns2:MediaServiceLocatio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ff74cc-9611-4422-8f5f-2fd59a0d1353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5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6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7" nillable="true" ma:displayName="MediaServiceDateTaken" ma:hidden="true" ma:internalName="MediaServiceDateTaken" ma:readOnly="true">
      <xsd:simpleType>
        <xsd:restriction base="dms:Text"/>
      </xsd:simpleType>
    </xsd:element>
    <xsd:element name="MediaLengthInSeconds" ma:index="18" nillable="true" ma:displayName="MediaLengthInSeconds" ma:hidden="true" ma:internalName="MediaLengthInSeconds" ma:readOnly="true">
      <xsd:simpleType>
        <xsd:restriction base="dms:Unknown"/>
      </xsd:simpleType>
    </xsd:element>
    <xsd:element name="lcf76f155ced4ddcb4097134ff3c332f" ma:index="20" nillable="true" ma:taxonomy="true" ma:internalName="lcf76f155ced4ddcb4097134ff3c332f" ma:taxonomyFieldName="MediaServiceImageTags" ma:displayName="Billedmærker" ma:readOnly="false" ma:fieldId="{5cf76f15-5ced-4ddc-b409-7134ff3c332f}" ma:taxonomyMulti="true" ma:sspId="b954ac37-474b-4ce9-96da-5e2495cdfa4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_Flow_SignoffStatus" ma:index="22" nillable="true" ma:displayName="Godkendelsesstatus" ma:internalName="Godkendelsesstatus">
      <xsd:simpleType>
        <xsd:restriction base="dms:Text"/>
      </xsd:simpleType>
    </xsd:element>
    <xsd:element name="MedCom" ma:index="23" nillable="true" ma:displayName="MedCom" ma:internalName="MedCom">
      <xsd:simpleType>
        <xsd:restriction base="dms:Text">
          <xsd:maxLength value="255"/>
        </xsd:restriction>
      </xsd:simpleType>
    </xsd:element>
    <xsd:element name="MediaServiceObjectDetectorVersions" ma:index="2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Location" ma:index="26" nillable="true" ma:displayName="Location" ma:indexed="true" ma:internalName="MediaServiceLocatio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ee2f643-61f1-4bc5-bd2f-0ddea5310e08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Delt med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Delt med detaljer" ma:internalName="SharedWithDetails" ma:readOnly="true">
      <xsd:simpleType>
        <xsd:restriction base="dms:Note">
          <xsd:maxLength value="255"/>
        </xsd:restriction>
      </xsd:simpleType>
    </xsd:element>
    <xsd:element name="TaxCatchAll" ma:index="21" nillable="true" ma:displayName="Taxonomy Catch All Column" ma:hidden="true" ma:list="{5eb01b54-bb58-41c5-ae28-f67e6fd2db35}" ma:internalName="TaxCatchAll" ma:showField="CatchAllData" ma:web="eee2f643-61f1-4bc5-bd2f-0ddea5310e08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dholdstype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TaxCatchAll xmlns="eee2f643-61f1-4bc5-bd2f-0ddea5310e08" xsi:nil="true"/>
    <_Flow_SignoffStatus xmlns="12ff74cc-9611-4422-8f5f-2fd59a0d1353" xsi:nil="true"/>
    <lcf76f155ced4ddcb4097134ff3c332f xmlns="12ff74cc-9611-4422-8f5f-2fd59a0d1353">
      <Terms xmlns="http://schemas.microsoft.com/office/infopath/2007/PartnerControls"/>
    </lcf76f155ced4ddcb4097134ff3c332f>
    <MedCom xmlns="12ff74cc-9611-4422-8f5f-2fd59a0d1353" xsi:nil="true"/>
  </documentManagement>
</p:properties>
</file>

<file path=customXml/itemProps1.xml><?xml version="1.0" encoding="utf-8"?>
<ds:datastoreItem xmlns:ds="http://schemas.openxmlformats.org/officeDocument/2006/customXml" ds:itemID="{14AB1A68-8018-4E90-BA70-6DC9173B1623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0E7631D-FF33-4A81-83A1-18D3900D12F5}">
  <ds:schemaRefs>
    <ds:schemaRef ds:uri="12ff74cc-9611-4422-8f5f-2fd59a0d1353"/>
    <ds:schemaRef ds:uri="eee2f643-61f1-4bc5-bd2f-0ddea5310e08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FDFB07D6-C42B-49DF-A2A6-03D56F926E75}">
  <ds:schemaRefs>
    <ds:schemaRef ds:uri="0154d2e8-1942-4867-bb72-5dd5ffd33c76"/>
    <ds:schemaRef ds:uri="12ff74cc-9611-4422-8f5f-2fd59a0d1353"/>
    <ds:schemaRef ds:uri="80c58e8e-93cf-47da-82f6-c0e4731431d9"/>
    <ds:schemaRef ds:uri="d440e853-7fad-4bf0-8b01-5fa2c2ef55aa"/>
    <ds:schemaRef ds:uri="eee2f643-61f1-4bc5-bd2f-0ddea5310e08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http://schemas.openxmlformats.org/package/2006/metadata/core-properties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SSI_PowerPoint præsentation</Template>
  <Application>Microsoft Office PowerPoint</Application>
  <PresentationFormat>Widescreen</PresentationFormat>
  <Slides>22</Slides>
  <Notes>0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SSI</vt:lpstr>
      <vt:lpstr>Vibe coding og AI-assisteret udvikling af geodata-dashboards </vt:lpstr>
      <vt:lpstr>AI + data =&gt; dashboards på rekordtid </vt:lpstr>
      <vt:lpstr>Hvad er SSI (Statens Serum Institut)</vt:lpstr>
      <vt:lpstr>Hvem er Steen Hulthin Rasmussen?</vt:lpstr>
      <vt:lpstr>Hvad er “Vibe Coding”? </vt:lpstr>
      <vt:lpstr>Mission briefing og ambitionen </vt:lpstr>
      <vt:lpstr>Første aha-oplevelse (Optimisme -&gt; realisme) </vt:lpstr>
      <vt:lpstr>Hvordan ser AI-assiteret udvikling ud?</vt:lpstr>
      <vt:lpstr>Hvordan ser Vibe Coding ud? </vt:lpstr>
      <vt:lpstr>Resultaterne – kunne AI lave dashboards med kort?</vt:lpstr>
      <vt:lpstr>Streamlit - screenshot</vt:lpstr>
      <vt:lpstr>Dash - screenshot</vt:lpstr>
      <vt:lpstr>Shiny – lignede meget Dash dashboardet</vt:lpstr>
      <vt:lpstr>ArcGIS – 3D scene</vt:lpstr>
      <vt:lpstr>ArcGIS - Screenshot</vt:lpstr>
      <vt:lpstr>Power BI</vt:lpstr>
      <vt:lpstr>Teknologierne vurderet i forhold til udvikling med AI </vt:lpstr>
      <vt:lpstr>Hvad er AI særligt velegnet til?</vt:lpstr>
      <vt:lpstr>Overvejelser om sikkerhed </vt:lpstr>
      <vt:lpstr>Tips til at bruge AI effektivt </vt:lpstr>
      <vt:lpstr>AI er magisk makker, når man bruger den rigtigt </vt:lpstr>
      <vt:lpstr>Tak for jeres tid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PowerPoint-præsentation</dc:title>
  <dc:creator>Gitte Konieczny</dc:creator>
  <cp:revision>78</cp:revision>
  <cp:lastPrinted>2022-08-16T11:35:41Z</cp:lastPrinted>
  <dcterms:created xsi:type="dcterms:W3CDTF">2023-02-22T09:31:22Z</dcterms:created>
  <dcterms:modified xsi:type="dcterms:W3CDTF">2025-11-04T17:11:35Z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0x0101007701BA1634B2B04D8AB99B32221FEA66</vt:lpwstr>
  </property>
  <property fmtid="{D5CDD505-2E9C-101B-9397-08002B2CF9AE}" pid="3" name="MediaServiceImageTags">
    <vt:lpwstr/>
  </property>
</Properties>
</file>